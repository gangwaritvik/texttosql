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CE5DCC-C198-4583-A49B-B932DB48BF3B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4CDC8A-DFA3-4AC7-8A48-A8A8C90667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47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8E4E9-B430-1153-B277-8C8091DCA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1F7BA6B-36B1-EC24-A8A8-4BDD8F5751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5E52AB7-98EC-127D-8984-C29F50A0A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A983C8-E78F-801D-1B46-E4F2EBB2AA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194799-8B18-4D48-B7B3-68B9AB0383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18196-80AC-2F29-33E1-CAB77FAC90F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G+D Restricted</a:t>
            </a:r>
          </a:p>
        </p:txBody>
      </p:sp>
    </p:spTree>
    <p:extLst>
      <p:ext uri="{BB962C8B-B14F-4D97-AF65-F5344CB8AC3E}">
        <p14:creationId xmlns:p14="http://schemas.microsoft.com/office/powerpoint/2010/main" val="2350057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8E3FCD8-EBD5-4F01-AB37-1E7B1CF799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746" y="234951"/>
            <a:ext cx="11515821" cy="1369484"/>
          </a:xfrm>
        </p:spPr>
        <p:txBody>
          <a:bodyPr lIns="0" tIns="90000" rIns="90000" bIns="90000" anchor="ctr">
            <a:noAutofit/>
          </a:bodyPr>
          <a:lstStyle>
            <a:lvl1pPr>
              <a:lnSpc>
                <a:spcPct val="110000"/>
              </a:lnSpc>
              <a:spcBef>
                <a:spcPts val="533"/>
              </a:spcBef>
              <a:spcAft>
                <a:spcPts val="533"/>
              </a:spcAft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noProof="0"/>
              <a:t>Title, </a:t>
            </a:r>
            <a:br>
              <a:rPr lang="en-US" noProof="0"/>
            </a:br>
            <a:r>
              <a:rPr lang="en-US" noProof="0"/>
              <a:t>Arial 24 pt.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7D99E5C-B2A7-4700-A5FF-EED714E713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22347" y="6487128"/>
            <a:ext cx="723899" cy="192000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pPr algn="r"/>
            <a:r>
              <a:rPr lang="en-US"/>
              <a:t>5/29/2026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762E992-5977-4554-92AA-2070E87020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11980" y="6487128"/>
            <a:ext cx="2434611" cy="192000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pPr algn="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07E4352-BC08-4573-9573-89696A281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2002" y="6487128"/>
            <a:ext cx="435565" cy="192000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A146F29-519D-4C45-A00B-9A5AC736E7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097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.xml"/><Relationship Id="rId6" Type="http://schemas.openxmlformats.org/officeDocument/2006/relationships/image" Target="../media/image2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Relationship Id="rId9" Type="http://schemas.openxmlformats.org/officeDocument/2006/relationships/image" Target="../media/image5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64ECB-FC38-60FA-7B33-D6A27289A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1951C45C-3C5F-6785-51CE-4FE583E9B64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51C45C-3C5F-6785-51CE-4FE583E9B64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hteck 1">
            <a:extLst>
              <a:ext uri="{FF2B5EF4-FFF2-40B4-BE49-F238E27FC236}">
                <a16:creationId xmlns:a16="http://schemas.microsoft.com/office/drawing/2014/main" id="{6A1D9173-4348-E180-4EB6-C7D0D68AC984}"/>
              </a:ext>
            </a:extLst>
          </p:cNvPr>
          <p:cNvSpPr>
            <a:spLocks/>
          </p:cNvSpPr>
          <p:nvPr/>
        </p:nvSpPr>
        <p:spPr>
          <a:xfrm>
            <a:off x="1" y="6210301"/>
            <a:ext cx="11517700" cy="6477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C88C30D-A112-15F5-4731-09885A2B25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C716732C-0985-B64D-A31A-A0B3B91C2BC1}"/>
              </a:ext>
            </a:extLst>
          </p:cNvPr>
          <p:cNvSpPr>
            <a:spLocks/>
          </p:cNvSpPr>
          <p:nvPr/>
        </p:nvSpPr>
        <p:spPr>
          <a:xfrm>
            <a:off x="-29028" y="0"/>
            <a:ext cx="12192000" cy="6857995"/>
          </a:xfrm>
          <a:prstGeom prst="rect">
            <a:avLst/>
          </a:prstGeom>
          <a:gradFill flip="none" rotWithShape="1">
            <a:gsLst>
              <a:gs pos="14000">
                <a:schemeClr val="tx2"/>
              </a:gs>
              <a:gs pos="85000">
                <a:schemeClr val="tx2">
                  <a:alpha val="48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1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B5F28B52-2BCD-6C7D-74FD-8CB852125DB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9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9440" r="5838"/>
          <a:stretch/>
        </p:blipFill>
        <p:spPr>
          <a:xfrm flipH="1">
            <a:off x="-29029" y="5"/>
            <a:ext cx="10329324" cy="6857995"/>
          </a:xfrm>
          <a:custGeom>
            <a:avLst/>
            <a:gdLst>
              <a:gd name="connsiteX0" fmla="*/ 8610148 w 8610148"/>
              <a:gd name="connsiteY0" fmla="*/ 0 h 5143496"/>
              <a:gd name="connsiteX1" fmla="*/ 0 w 8610148"/>
              <a:gd name="connsiteY1" fmla="*/ 0 h 5143496"/>
              <a:gd name="connsiteX2" fmla="*/ 0 w 8610148"/>
              <a:gd name="connsiteY2" fmla="*/ 5143496 h 5143496"/>
              <a:gd name="connsiteX3" fmla="*/ 8610148 w 8610148"/>
              <a:gd name="connsiteY3" fmla="*/ 5143496 h 5143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10148" h="5143496">
                <a:moveTo>
                  <a:pt x="8610148" y="0"/>
                </a:moveTo>
                <a:lnTo>
                  <a:pt x="0" y="0"/>
                </a:lnTo>
                <a:lnTo>
                  <a:pt x="0" y="5143496"/>
                </a:lnTo>
                <a:lnTo>
                  <a:pt x="8610148" y="5143496"/>
                </a:lnTo>
                <a:close/>
              </a:path>
            </a:pathLst>
          </a:custGeom>
        </p:spPr>
      </p:pic>
      <p:pic>
        <p:nvPicPr>
          <p:cNvPr id="79" name="Grafik 78">
            <a:extLst>
              <a:ext uri="{FF2B5EF4-FFF2-40B4-BE49-F238E27FC236}">
                <a16:creationId xmlns:a16="http://schemas.microsoft.com/office/drawing/2014/main" id="{270CFE17-3712-3AE6-0DF4-43774CF84B3D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40981" y="631149"/>
            <a:ext cx="2574643" cy="388032"/>
          </a:xfrm>
          <a:prstGeom prst="rect">
            <a:avLst/>
          </a:prstGeom>
        </p:spPr>
      </p:pic>
      <p:sp>
        <p:nvSpPr>
          <p:cNvPr id="6" name="Untertitel 2">
            <a:extLst>
              <a:ext uri="{FF2B5EF4-FFF2-40B4-BE49-F238E27FC236}">
                <a16:creationId xmlns:a16="http://schemas.microsoft.com/office/drawing/2014/main" id="{010BF9A2-7E73-650A-9B7C-AAD9D747ED47}"/>
              </a:ext>
            </a:extLst>
          </p:cNvPr>
          <p:cNvSpPr txBox="1">
            <a:spLocks/>
          </p:cNvSpPr>
          <p:nvPr/>
        </p:nvSpPr>
        <p:spPr>
          <a:xfrm>
            <a:off x="212233" y="2504194"/>
            <a:ext cx="7892880" cy="924804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Clr>
                <a:srgbClr val="00D4FF"/>
              </a:buClr>
              <a:buFont typeface="Arial" panose="020B0604020202020204" pitchFamily="34" charset="0"/>
              <a:buChar char="●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200"/>
              </a:spcAft>
              <a:buClr>
                <a:srgbClr val="00D4FF"/>
              </a:buClr>
              <a:buFont typeface="Arial" panose="020B0604020202020204" pitchFamily="34" charset="0"/>
              <a:buChar char="●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ts val="2000"/>
              </a:lnSpc>
              <a:spcBef>
                <a:spcPts val="0"/>
              </a:spcBef>
              <a:buClr>
                <a:srgbClr val="00D4FF"/>
              </a:buClr>
              <a:buFont typeface="Arial" panose="020B0604020202020204" pitchFamily="34" charset="0"/>
              <a:buChar char="●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ts val="2000"/>
              </a:lnSpc>
              <a:spcBef>
                <a:spcPts val="0"/>
              </a:spcBef>
              <a:buClr>
                <a:srgbClr val="00D4FF"/>
              </a:buClr>
              <a:buFont typeface="Arial" panose="020B0604020202020204" pitchFamily="34" charset="0"/>
              <a:buChar char="●"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ts val="2000"/>
              </a:lnSpc>
              <a:spcBef>
                <a:spcPts val="0"/>
              </a:spcBef>
              <a:buClr>
                <a:srgbClr val="00D4FF"/>
              </a:buClr>
              <a:buFont typeface="Arial" panose="020B0604020202020204" pitchFamily="34" charset="0"/>
              <a:buChar char="●"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533"/>
              </a:spcAft>
              <a:buClr>
                <a:srgbClr val="00D4FF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933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8C15FDCD-D2BE-8B2B-E186-30345B47A933}"/>
              </a:ext>
            </a:extLst>
          </p:cNvPr>
          <p:cNvSpPr txBox="1">
            <a:spLocks/>
          </p:cNvSpPr>
          <p:nvPr/>
        </p:nvSpPr>
        <p:spPr>
          <a:xfrm>
            <a:off x="833741" y="1974827"/>
            <a:ext cx="10466461" cy="775992"/>
          </a:xfrm>
          <a:prstGeom prst="rect">
            <a:avLst/>
          </a:prstGeom>
        </p:spPr>
        <p:txBody>
          <a:bodyPr vert="horz" lIns="0" tIns="120000" rIns="120000" bIns="120000" rtlCol="0" anchor="ctr">
            <a:noAutofit/>
          </a:bodyPr>
          <a:lstStyle>
            <a:lvl1pPr algn="l" defTabSz="685800" rtl="0" eaLnBrk="1" latinLnBrk="0" hangingPunct="1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  <a:buNone/>
              <a:defRPr sz="24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 defTabSz="914377">
              <a:spcBef>
                <a:spcPts val="533"/>
              </a:spcBef>
              <a:spcAft>
                <a:spcPts val="533"/>
              </a:spcAft>
              <a:defRPr/>
            </a:pPr>
            <a:r>
              <a:rPr lang="en-US" sz="4400" dirty="0">
                <a:solidFill>
                  <a:srgbClr val="F2F7FC"/>
                </a:solidFill>
                <a:latin typeface="Segoe UI"/>
              </a:rPr>
              <a:t>Text</a:t>
            </a:r>
            <a:r>
              <a:rPr lang="en-US" sz="4400" dirty="0">
                <a:solidFill>
                  <a:srgbClr val="AFC2D4"/>
                </a:solidFill>
                <a:latin typeface="Segoe UI"/>
              </a:rPr>
              <a:t>-to-</a:t>
            </a:r>
            <a:r>
              <a:rPr lang="en-US" sz="4400" dirty="0">
                <a:solidFill>
                  <a:srgbClr val="0F9ED5"/>
                </a:solidFill>
                <a:latin typeface="Segoe UI"/>
              </a:rPr>
              <a:t>SQL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 bold" panose="020F0702030404030204" pitchFamily="34" charset="0"/>
              <a:ea typeface="Calibri bold" panose="020F0702030404030204" pitchFamily="34" charset="0"/>
              <a:cs typeface="Calibri bold" panose="020F0702030404030204" pitchFamily="34" charset="0"/>
            </a:endParaRPr>
          </a:p>
        </p:txBody>
      </p:sp>
      <p:sp>
        <p:nvSpPr>
          <p:cNvPr id="19" name="Date Placeholder 18">
            <a:extLst>
              <a:ext uri="{FF2B5EF4-FFF2-40B4-BE49-F238E27FC236}">
                <a16:creationId xmlns:a16="http://schemas.microsoft.com/office/drawing/2014/main" id="{C04BC44B-5D26-70A3-858A-EEE85A9C2D8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algn="r"/>
            <a:r>
              <a:rPr lang="en-US"/>
              <a:t>5/29/2026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497E2821-2309-3851-4471-C975565449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A146F29-519D-4C45-A00B-9A5AC736E74D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5" name="Rounded Rectangle 9">
            <a:extLst>
              <a:ext uri="{FF2B5EF4-FFF2-40B4-BE49-F238E27FC236}">
                <a16:creationId xmlns:a16="http://schemas.microsoft.com/office/drawing/2014/main" id="{FD76F5B2-C3FC-0050-574D-62FD84ACC264}"/>
              </a:ext>
            </a:extLst>
          </p:cNvPr>
          <p:cNvSpPr/>
          <p:nvPr/>
        </p:nvSpPr>
        <p:spPr>
          <a:xfrm>
            <a:off x="822960" y="5074920"/>
            <a:ext cx="1210665" cy="329184"/>
          </a:xfrm>
          <a:prstGeom prst="roundRect">
            <a:avLst>
              <a:gd name="adj" fmla="val 50000"/>
            </a:avLst>
          </a:prstGeom>
          <a:solidFill>
            <a:srgbClr val="1F4D73"/>
          </a:solidFill>
          <a:ln w="12700">
            <a:solidFill>
              <a:srgbClr val="2BB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BB8E6"/>
                </a:solidFill>
                <a:latin typeface="Segoe UI"/>
              </a:rPr>
              <a:t>React 18</a:t>
            </a:r>
          </a:p>
        </p:txBody>
      </p:sp>
      <p:sp>
        <p:nvSpPr>
          <p:cNvPr id="16" name="Rounded Rectangle 10">
            <a:extLst>
              <a:ext uri="{FF2B5EF4-FFF2-40B4-BE49-F238E27FC236}">
                <a16:creationId xmlns:a16="http://schemas.microsoft.com/office/drawing/2014/main" id="{7DE5A32B-3E3E-BADD-4835-F74D4F708F16}"/>
              </a:ext>
            </a:extLst>
          </p:cNvPr>
          <p:cNvSpPr/>
          <p:nvPr/>
        </p:nvSpPr>
        <p:spPr>
          <a:xfrm>
            <a:off x="2198217" y="5074920"/>
            <a:ext cx="1111910" cy="329184"/>
          </a:xfrm>
          <a:prstGeom prst="roundRect">
            <a:avLst>
              <a:gd name="adj" fmla="val 50000"/>
            </a:avLst>
          </a:prstGeom>
          <a:solidFill>
            <a:srgbClr val="1F4D73"/>
          </a:solidFill>
          <a:ln w="12700">
            <a:solidFill>
              <a:srgbClr val="57B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57B847"/>
                </a:solidFill>
                <a:latin typeface="Segoe UI"/>
              </a:rPr>
              <a:t>FastAPI</a:t>
            </a:r>
          </a:p>
        </p:txBody>
      </p:sp>
      <p:sp>
        <p:nvSpPr>
          <p:cNvPr id="17" name="Rounded Rectangle 11">
            <a:extLst>
              <a:ext uri="{FF2B5EF4-FFF2-40B4-BE49-F238E27FC236}">
                <a16:creationId xmlns:a16="http://schemas.microsoft.com/office/drawing/2014/main" id="{AB8ACDCF-13A9-75E2-F2B1-A5011BFFA902}"/>
              </a:ext>
            </a:extLst>
          </p:cNvPr>
          <p:cNvSpPr/>
          <p:nvPr/>
        </p:nvSpPr>
        <p:spPr>
          <a:xfrm>
            <a:off x="3474719" y="507492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1F4D73"/>
          </a:solidFill>
          <a:ln w="12700">
            <a:solidFill>
              <a:srgbClr val="B56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56ACE"/>
                </a:solidFill>
                <a:latin typeface="Segoe UI"/>
              </a:rPr>
              <a:t>Azure OpenAI GPT-4.1</a:t>
            </a:r>
          </a:p>
        </p:txBody>
      </p:sp>
      <p:sp>
        <p:nvSpPr>
          <p:cNvPr id="18" name="Rounded Rectangle 12">
            <a:extLst>
              <a:ext uri="{FF2B5EF4-FFF2-40B4-BE49-F238E27FC236}">
                <a16:creationId xmlns:a16="http://schemas.microsoft.com/office/drawing/2014/main" id="{70E0C1B3-787D-FF21-5B70-A644213F08F1}"/>
              </a:ext>
            </a:extLst>
          </p:cNvPr>
          <p:cNvSpPr/>
          <p:nvPr/>
        </p:nvSpPr>
        <p:spPr>
          <a:xfrm>
            <a:off x="6035039" y="507492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F4D73"/>
          </a:solidFill>
          <a:ln w="12700">
            <a:solidFill>
              <a:srgbClr val="F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0883E"/>
                </a:solidFill>
                <a:latin typeface="Segoe UI"/>
              </a:rPr>
              <a:t>FAISS</a:t>
            </a:r>
          </a:p>
        </p:txBody>
      </p:sp>
      <p:sp>
        <p:nvSpPr>
          <p:cNvPr id="20" name="Rounded Rectangle 13">
            <a:extLst>
              <a:ext uri="{FF2B5EF4-FFF2-40B4-BE49-F238E27FC236}">
                <a16:creationId xmlns:a16="http://schemas.microsoft.com/office/drawing/2014/main" id="{178C14AD-A61B-63E1-68C4-9667E5A5E456}"/>
              </a:ext>
            </a:extLst>
          </p:cNvPr>
          <p:cNvSpPr/>
          <p:nvPr/>
        </p:nvSpPr>
        <p:spPr>
          <a:xfrm>
            <a:off x="7114031" y="5074920"/>
            <a:ext cx="1408176" cy="329184"/>
          </a:xfrm>
          <a:prstGeom prst="roundRect">
            <a:avLst>
              <a:gd name="adj" fmla="val 50000"/>
            </a:avLst>
          </a:prstGeom>
          <a:solidFill>
            <a:srgbClr val="1F4D73"/>
          </a:solidFill>
          <a:ln w="12700">
            <a:solidFill>
              <a:srgbClr val="0F9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9ED5"/>
                </a:solidFill>
                <a:latin typeface="Segoe UI"/>
              </a:rPr>
              <a:t>PostgreSQL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31018FF-EB98-4085-D3F5-EBC4196D1EBB}"/>
              </a:ext>
            </a:extLst>
          </p:cNvPr>
          <p:cNvSpPr txBox="1"/>
          <p:nvPr/>
        </p:nvSpPr>
        <p:spPr>
          <a:xfrm>
            <a:off x="833741" y="2790388"/>
            <a:ext cx="9875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dirty="0">
                <a:solidFill>
                  <a:srgbClr val="F2F7FC"/>
                </a:solidFill>
                <a:latin typeface="Segoe UI"/>
              </a:rPr>
              <a:t>Turn plain-English questions into accurate SQL — and answers.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858D0A-ED09-034A-21A0-59402805CCE5}"/>
              </a:ext>
            </a:extLst>
          </p:cNvPr>
          <p:cNvSpPr txBox="1"/>
          <p:nvPr/>
        </p:nvSpPr>
        <p:spPr>
          <a:xfrm>
            <a:off x="903580" y="4268723"/>
            <a:ext cx="9692640" cy="5107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dirty="0">
                <a:solidFill>
                  <a:schemeClr val="bg2"/>
                </a:solidFill>
                <a:latin typeface="Segoe UI"/>
              </a:rPr>
              <a:t>A full-stack application that uses Azure OpenAI, semantic search and join-graph reasoning to generate, validate and run SQL on PostgreSQL.</a:t>
            </a:r>
          </a:p>
        </p:txBody>
      </p:sp>
    </p:spTree>
    <p:extLst>
      <p:ext uri="{BB962C8B-B14F-4D97-AF65-F5344CB8AC3E}">
        <p14:creationId xmlns:p14="http://schemas.microsoft.com/office/powerpoint/2010/main" val="19749652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F7FC"/>
                </a:solidFill>
                <a:latin typeface="Segoe UI"/>
              </a:rPr>
              <a:t>Project Overview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6492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AFC2D4"/>
                </a:solidFill>
                <a:latin typeface="Segoe UI"/>
              </a:rPr>
              <a:t>Text-to-SQL lets non-technical users query a relational database by simply asking a question in natural language. The system finds the right tables, writes the SQL, runs it safely, and explains the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11810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88136" y="3063240"/>
            <a:ext cx="6272784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F7FC"/>
                </a:solidFill>
                <a:latin typeface="Segoe UI"/>
              </a:rPr>
              <a:t>Conversational querying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No SQL knowledge required — just ask.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3133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88136" y="3776472"/>
            <a:ext cx="6272784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F7FC"/>
                </a:solidFill>
                <a:latin typeface="Segoe UI"/>
              </a:rPr>
              <a:t>Retrieval-augmented (RAG)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Embeddings pick only the relevant tables.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54456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88136" y="4489704"/>
            <a:ext cx="6272784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F7FC"/>
                </a:solidFill>
                <a:latin typeface="Segoe UI"/>
              </a:rPr>
              <a:t>Schema &amp; join aware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Uses foreign-key relationships to join correctly.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2578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85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88136" y="5202936"/>
            <a:ext cx="6272784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F7FC"/>
                </a:solidFill>
                <a:latin typeface="Segoe UI"/>
              </a:rPr>
              <a:t>Safe by design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Detects and blocks destructive operations.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1737360"/>
            <a:ext cx="1874519" cy="1874519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635240" y="1737360"/>
            <a:ext cx="1874519" cy="109728"/>
          </a:xfrm>
          <a:prstGeom prst="rect">
            <a:avLst/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35240" y="2148840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2BB8E6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80" y="3035808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AFC2D4"/>
                </a:solidFill>
                <a:latin typeface="Segoe UI"/>
              </a:rPr>
              <a:t>Application tiers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1737360"/>
            <a:ext cx="1874519" cy="1874519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692640" y="1737360"/>
            <a:ext cx="1874519" cy="109728"/>
          </a:xfrm>
          <a:prstGeom prst="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48840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0F9ED5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3035808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AFC2D4"/>
                </a:solidFill>
                <a:latin typeface="Segoe UI"/>
              </a:rPr>
              <a:t>AI pipeline steps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3794760"/>
            <a:ext cx="1874519" cy="1874519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635240" y="3794760"/>
            <a:ext cx="1874519" cy="109728"/>
          </a:xfrm>
          <a:prstGeom prst="rect">
            <a:avLst/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35240" y="4206240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B56ACE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80" y="5093208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AFC2D4"/>
                </a:solidFill>
                <a:latin typeface="Segoe UI"/>
              </a:rPr>
              <a:t>LLM calls / query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3794760"/>
            <a:ext cx="1874519" cy="1874519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692640" y="3794760"/>
            <a:ext cx="1874519" cy="109728"/>
          </a:xfrm>
          <a:prstGeom prst="rect">
            <a:avLst/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92640" y="4206240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57B847"/>
                </a:solidFill>
                <a:latin typeface="Segoe UI"/>
              </a:rP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5093208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AFC2D4"/>
                </a:solidFill>
                <a:latin typeface="Segoe UI"/>
              </a:rPr>
              <a:t>Read-only execution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dirty="0">
                <a:solidFill>
                  <a:srgbClr val="F2F7FC"/>
                </a:solidFill>
                <a:latin typeface="Segoe UI"/>
              </a:rPr>
              <a:t>The Problem &amp; Solution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120640" cy="4023360"/>
          </a:xfrm>
          <a:prstGeom prst="roundRect">
            <a:avLst>
              <a:gd name="adj" fmla="val 6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20000"/>
            </a:avLst>
          </a:prstGeom>
          <a:solidFill>
            <a:srgbClr val="E85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F7FC"/>
                </a:solidFill>
                <a:latin typeface="Segoe UI"/>
              </a:rPr>
              <a:t>THE PROBLEM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266090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85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16736" y="2606040"/>
            <a:ext cx="435254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2F7FC"/>
                </a:solidFill>
                <a:latin typeface="Segoe UI"/>
              </a:rPr>
              <a:t>SQL is a barrier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Business users can't write queries themselves.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341071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85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16736" y="3355848"/>
            <a:ext cx="435254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2F7FC"/>
                </a:solidFill>
                <a:latin typeface="Segoe UI"/>
              </a:rPr>
              <a:t>Schemas are complex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Dozens of tables, keys and join paths to remember.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41605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85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16736" y="4105656"/>
            <a:ext cx="435254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2F7FC"/>
                </a:solidFill>
                <a:latin typeface="Segoe UI"/>
              </a:rPr>
              <a:t>Slow feedback loop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Every question needs an engineer in the loop.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91032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85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16736" y="4855464"/>
            <a:ext cx="435254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2F7FC"/>
                </a:solidFill>
                <a:latin typeface="Segoe UI"/>
              </a:rPr>
              <a:t>Risky operations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A wrong query can modify or delete data.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783080"/>
            <a:ext cx="5074920" cy="4023360"/>
          </a:xfrm>
          <a:prstGeom prst="roundRect">
            <a:avLst>
              <a:gd name="adj" fmla="val 6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09360" y="1783080"/>
            <a:ext cx="5074920" cy="548640"/>
          </a:xfrm>
          <a:prstGeom prst="roundRect">
            <a:avLst>
              <a:gd name="adj" fmla="val 20000"/>
            </a:avLst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1949678"/>
            <a:ext cx="47548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>
                <a:solidFill>
                  <a:srgbClr val="0E2841"/>
                </a:solidFill>
                <a:latin typeface="Segoe UI"/>
              </a:rPr>
              <a:t>SOLUTION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266090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48856" y="2606040"/>
            <a:ext cx="430682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2F7FC"/>
                </a:solidFill>
                <a:latin typeface="Segoe UI"/>
              </a:rPr>
              <a:t>Ask in plain English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Natural-language input, instant SQL + results.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341071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48856" y="3355848"/>
            <a:ext cx="430682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2F7FC"/>
                </a:solidFill>
                <a:latin typeface="Segoe UI"/>
              </a:rPr>
              <a:t>AI finds the tables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Semantic search retrieves only what's relevant.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7960" y="41605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48856" y="4105656"/>
            <a:ext cx="430682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2F7FC"/>
                </a:solidFill>
                <a:latin typeface="Segoe UI"/>
              </a:rPr>
              <a:t>Automatic, correct joins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Join graph guides multi-table queries.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491032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48856" y="4855464"/>
            <a:ext cx="430682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2F7FC"/>
                </a:solidFill>
                <a:latin typeface="Segoe UI"/>
              </a:rPr>
              <a:t>Guard-railed execution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Dangerous operations detected and blocked.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F7FC"/>
                </a:solidFill>
                <a:latin typeface="Segoe UI"/>
              </a:rPr>
              <a:t>Key Features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9728" cy="1024128"/>
          </a:xfrm>
          <a:prstGeom prst="rect">
            <a:avLst/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929384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Natural Language →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95144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Azure OpenAI GPT-4.1 writes valid PostgreSQL from a question.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83080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1783080"/>
            <a:ext cx="109728" cy="1024128"/>
          </a:xfrm>
          <a:prstGeom prst="rect">
            <a:avLst/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1929384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Semantic Table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295144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Embeddings + FAISS pick the top-k relevant tables.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916936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2916936"/>
            <a:ext cx="109728" cy="1024128"/>
          </a:xfrm>
          <a:prstGeom prst="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306324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Join-Graph Reasoning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429000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Foreign-key graph builds correct multi-table joins.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916936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60" y="2916936"/>
            <a:ext cx="109728" cy="1024128"/>
          </a:xfrm>
          <a:prstGeom prst="rect">
            <a:avLst/>
          </a:prstGeom>
          <a:solidFill>
            <a:srgbClr val="E85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400" y="306324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Danger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429000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Blocks DELETE / DROP / UPDATE / INSERT before execution.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050792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77240" y="4050792"/>
            <a:ext cx="109728" cy="1024128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" y="4197096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CSV / Excel Upload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562856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Drop a file → instantly query it as a table.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050792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09360" y="4050792"/>
            <a:ext cx="109728" cy="1024128"/>
          </a:xfrm>
          <a:prstGeom prst="rect">
            <a:avLst/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29400" y="4197096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AI Result Summaries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562856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A second LLM call explains the results in plain words.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184648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77240" y="5184648"/>
            <a:ext cx="109728" cy="1024128"/>
          </a:xfrm>
          <a:prstGeom prst="rect">
            <a:avLst/>
          </a:prstGeom>
          <a:solidFill>
            <a:srgbClr val="D8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7280" y="533095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Query Complexity Score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696712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Rates each query Simple → Very Complex.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5184648"/>
            <a:ext cx="5257800" cy="1024128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09360" y="5184648"/>
            <a:ext cx="109728" cy="1024128"/>
          </a:xfrm>
          <a:prstGeom prst="rect">
            <a:avLst/>
          </a:prstGeom>
          <a:solidFill>
            <a:srgbClr val="35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29400" y="533095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Multi-Database Support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5696712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Browse schemas and switch databases on the fly.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F7FC"/>
                </a:solidFill>
                <a:latin typeface="Segoe UI"/>
              </a:rPr>
              <a:t>Technology Stack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8299" y="1874519"/>
            <a:ext cx="2606040" cy="3977639"/>
          </a:xfrm>
          <a:prstGeom prst="roundRect">
            <a:avLst>
              <a:gd name="adj" fmla="val 5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8299" y="1874519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8299" y="1874519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2841"/>
                </a:solidFill>
                <a:latin typeface="Segoe UI"/>
              </a:rPr>
              <a:t>FRONTEND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331" y="28072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3787" y="2743199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React 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331" y="337413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43787" y="3310127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Create React 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331" y="39410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43787" y="3877055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Component-based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4331" y="45079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3787" y="4443983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Fetch API → REST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331" y="5074919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3787" y="5010911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localStorage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651" y="1874519"/>
            <a:ext cx="2606040" cy="3977639"/>
          </a:xfrm>
          <a:prstGeom prst="roundRect">
            <a:avLst>
              <a:gd name="adj" fmla="val 5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384651" y="1874519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384651" y="1874519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2841"/>
                </a:solidFill>
                <a:latin typeface="Segoe UI"/>
              </a:rPr>
              <a:t>BACKEND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40683" y="28072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860139" y="2743199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FastAPI + Uvicorn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40683" y="337413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860139" y="3310127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SQLAlchemy (engine)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40683" y="39410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60139" y="3877055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Pydantic models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40683" y="45079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860139" y="4443983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Async query pipeline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40683" y="5074919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860139" y="5010911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Layered architecture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01003" y="1874519"/>
            <a:ext cx="2606040" cy="3977639"/>
          </a:xfrm>
          <a:prstGeom prst="roundRect">
            <a:avLst>
              <a:gd name="adj" fmla="val 5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201003" y="1874519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01003" y="1874519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2841"/>
                </a:solidFill>
                <a:latin typeface="Segoe UI"/>
              </a:rPr>
              <a:t>AI / ML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57035" y="28072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76491" y="2743199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Azure OpenAI GPT-4.1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57035" y="337413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76491" y="3310127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text-embedding-3-small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7035" y="39410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76491" y="3877055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LangChain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57035" y="45079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676491" y="4443983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FAISS vector store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57035" y="5074919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676491" y="5010911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RAG retrieval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17355" y="1874519"/>
            <a:ext cx="2606040" cy="3977639"/>
          </a:xfrm>
          <a:prstGeom prst="roundRect">
            <a:avLst>
              <a:gd name="adj" fmla="val 5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9017355" y="1874519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017355" y="1874519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2841"/>
                </a:solidFill>
                <a:latin typeface="Segoe UI"/>
              </a:rPr>
              <a:t>DATA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273387" y="2807207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492843" y="2743199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PostgreSQL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273387" y="337413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492843" y="3310127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psycopg2 driver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73387" y="39410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492843" y="3877055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pandas (file parse)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273387" y="45079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492843" y="4443983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Foreign-key graph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73387" y="5074919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492843" y="5010911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7FC"/>
                </a:solidFill>
                <a:latin typeface="Segoe UI"/>
              </a:rPr>
              <a:t>CSV / Excel ingest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F7FC"/>
                </a:solidFill>
                <a:latin typeface="Segoe UI"/>
              </a:rPr>
              <a:t>System Architecture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1691640"/>
            <a:ext cx="7955279" cy="86868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 w="19050">
            <a:solidFill>
              <a:srgbClr val="2BB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103120" y="1691640"/>
            <a:ext cx="128016" cy="868680"/>
          </a:xfrm>
          <a:prstGeom prst="rect">
            <a:avLst/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95728" y="1801368"/>
            <a:ext cx="74980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2F7FC"/>
                </a:solidFill>
                <a:latin typeface="Segoe UI"/>
              </a:rPr>
              <a:t>React Frontend (port 3000)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167128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Query box · Schema browser · Data viewer · File upload · Results panel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806440" y="2615184"/>
            <a:ext cx="548640" cy="384048"/>
          </a:xfrm>
          <a:prstGeom prst="downArrow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AFC2D4"/>
                </a:solidFill>
                <a:latin typeface="Segoe UI"/>
              </a:rPr>
              <a:t>REST / JSON  (HTTP)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154680"/>
            <a:ext cx="7498079" cy="25146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B7C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3200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9ED5"/>
                </a:solidFill>
                <a:latin typeface="Segoe UI"/>
              </a:rPr>
              <a:t>FastAPI Backend (port 8000)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5568" y="3657600"/>
            <a:ext cx="1691640" cy="1828800"/>
          </a:xfrm>
          <a:prstGeom prst="roundRect">
            <a:avLst>
              <a:gd name="adj" fmla="val 8000"/>
            </a:avLst>
          </a:prstGeom>
          <a:solidFill>
            <a:srgbClr val="1F4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15568" y="3657600"/>
            <a:ext cx="1691640" cy="91440"/>
          </a:xfrm>
          <a:prstGeom prst="rect">
            <a:avLst/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25296" y="3840480"/>
            <a:ext cx="14721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7B847"/>
                </a:solidFill>
                <a:latin typeface="Segoe UI"/>
              </a:rPr>
              <a:t>Routes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4343400"/>
            <a:ext cx="1508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AFC2D4"/>
                </a:solidFill>
                <a:latin typeface="Segoe UI"/>
              </a:rPr>
              <a:t>query · upload
databases · metadata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16936" y="3657600"/>
            <a:ext cx="1691640" cy="1828800"/>
          </a:xfrm>
          <a:prstGeom prst="roundRect">
            <a:avLst>
              <a:gd name="adj" fmla="val 8000"/>
            </a:avLst>
          </a:prstGeom>
          <a:solidFill>
            <a:srgbClr val="1F4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916936" y="3657600"/>
            <a:ext cx="1691640" cy="91440"/>
          </a:xfrm>
          <a:prstGeom prst="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26664" y="3840480"/>
            <a:ext cx="14721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9ED5"/>
                </a:solidFill>
                <a:latin typeface="Segoe UI"/>
              </a:rPr>
              <a:t>Query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8376" y="4343400"/>
            <a:ext cx="1508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AFC2D4"/>
                </a:solidFill>
                <a:latin typeface="Segoe UI"/>
              </a:rPr>
              <a:t>orchestrates the
5-step flow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18304" y="3657600"/>
            <a:ext cx="1691640" cy="1828800"/>
          </a:xfrm>
          <a:prstGeom prst="roundRect">
            <a:avLst>
              <a:gd name="adj" fmla="val 8000"/>
            </a:avLst>
          </a:prstGeom>
          <a:solidFill>
            <a:srgbClr val="1F4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718304" y="3657600"/>
            <a:ext cx="1691640" cy="91440"/>
          </a:xfrm>
          <a:prstGeom prst="rect">
            <a:avLst/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28032" y="3840480"/>
            <a:ext cx="14721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56ACE"/>
                </a:solidFill>
                <a:latin typeface="Segoe UI"/>
              </a:rPr>
              <a:t>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9744" y="4343400"/>
            <a:ext cx="1508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AFC2D4"/>
                </a:solidFill>
                <a:latin typeface="Segoe UI"/>
              </a:rPr>
              <a:t>embedder · SQL gen
executor · files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19672" y="3657600"/>
            <a:ext cx="1691640" cy="1828800"/>
          </a:xfrm>
          <a:prstGeom prst="roundRect">
            <a:avLst>
              <a:gd name="adj" fmla="val 8000"/>
            </a:avLst>
          </a:prstGeom>
          <a:solidFill>
            <a:srgbClr val="1F4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519672" y="3657600"/>
            <a:ext cx="1691640" cy="9144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29400" y="3840480"/>
            <a:ext cx="14721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0883E"/>
                </a:solidFill>
                <a:latin typeface="Segoe UI"/>
              </a:rPr>
              <a:t>Utils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11112" y="4343400"/>
            <a:ext cx="1508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AFC2D4"/>
                </a:solidFill>
                <a:latin typeface="Segoe UI"/>
              </a:rPr>
              <a:t>join graph · prompt
metadata · state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32520" y="3200400"/>
            <a:ext cx="2743200" cy="841248"/>
          </a:xfrm>
          <a:prstGeom prst="roundRect">
            <a:avLst>
              <a:gd name="adj" fmla="val 12000"/>
            </a:avLst>
          </a:prstGeom>
          <a:solidFill>
            <a:srgbClr val="16395A"/>
          </a:solidFill>
          <a:ln w="15875">
            <a:solidFill>
              <a:srgbClr val="B56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15400" y="3319272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56ACE"/>
                </a:solidFill>
                <a:latin typeface="Segoe UI"/>
              </a:rPr>
              <a:t>Azure OpenAI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657600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AFC2D4"/>
                </a:solidFill>
                <a:latin typeface="Segoe UI"/>
              </a:rPr>
              <a:t>GPT-4.1 + embeddings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32520" y="4160520"/>
            <a:ext cx="2743200" cy="841248"/>
          </a:xfrm>
          <a:prstGeom prst="roundRect">
            <a:avLst>
              <a:gd name="adj" fmla="val 12000"/>
            </a:avLst>
          </a:prstGeom>
          <a:solidFill>
            <a:srgbClr val="16395A"/>
          </a:solidFill>
          <a:ln w="15875">
            <a:solidFill>
              <a:srgbClr val="F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915400" y="4279392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0883E"/>
                </a:solidFill>
                <a:latin typeface="Segoe UI"/>
              </a:rPr>
              <a:t>FAISS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4617720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AFC2D4"/>
                </a:solidFill>
                <a:latin typeface="Segoe UI"/>
              </a:rPr>
              <a:t>vector similarity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32520" y="5120640"/>
            <a:ext cx="2743200" cy="841248"/>
          </a:xfrm>
          <a:prstGeom prst="roundRect">
            <a:avLst>
              <a:gd name="adj" fmla="val 12000"/>
            </a:avLst>
          </a:prstGeom>
          <a:solidFill>
            <a:srgbClr val="16395A"/>
          </a:solidFill>
          <a:ln w="15875">
            <a:solidFill>
              <a:srgbClr val="0F9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915400" y="5239512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9ED5"/>
                </a:solidFill>
                <a:latin typeface="Segoe UI"/>
              </a:rPr>
              <a:t>PostgreSQL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5577840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AFC2D4"/>
                </a:solidFill>
                <a:latin typeface="Segoe UI"/>
              </a:rPr>
              <a:t>data + schema</a:t>
            </a:r>
          </a:p>
        </p:txBody>
      </p:sp>
      <p:sp>
        <p:nvSpPr>
          <p:cNvPr id="40" name="Left-Right Arrow 39"/>
          <p:cNvSpPr/>
          <p:nvPr/>
        </p:nvSpPr>
        <p:spPr>
          <a:xfrm>
            <a:off x="8412480" y="4206240"/>
            <a:ext cx="365760" cy="310896"/>
          </a:xfrm>
          <a:prstGeom prst="leftRightArrow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CORE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F7FC"/>
                </a:solidFill>
                <a:latin typeface="Segoe UI"/>
              </a:rPr>
              <a:t>The Query Pipeline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AFC2D4"/>
                </a:solidFill>
                <a:latin typeface="Segoe UI"/>
              </a:rPr>
              <a:t>Every question travels through five orchestrated steps — from embedding to answer.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4314" y="2331720"/>
            <a:ext cx="2084831" cy="3017520"/>
          </a:xfrm>
          <a:prstGeom prst="roundRect">
            <a:avLst>
              <a:gd name="adj" fmla="val 7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22681" y="2606040"/>
            <a:ext cx="768096" cy="768096"/>
          </a:xfrm>
          <a:prstGeom prst="ellipse">
            <a:avLst/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22681" y="2606040"/>
            <a:ext cx="768096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2841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4042" y="3566160"/>
            <a:ext cx="18653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F7FC"/>
                </a:solidFill>
                <a:latin typeface="Segoe UI"/>
              </a:rPr>
              <a:t>Embed &amp; Retrieve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906" y="4160520"/>
            <a:ext cx="175564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Embed the question and run FAISS semantic search to find the top relevant tables.</a:t>
            </a:r>
          </a:p>
        </p:txBody>
      </p:sp>
      <p:sp>
        <p:nvSpPr>
          <p:cNvPr id="13" name="Chevron 12"/>
          <p:cNvSpPr/>
          <p:nvPr/>
        </p:nvSpPr>
        <p:spPr>
          <a:xfrm>
            <a:off x="2730857" y="3675888"/>
            <a:ext cx="201168" cy="329184"/>
          </a:xfrm>
          <a:prstGeom prst="chevron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858873" y="2331720"/>
            <a:ext cx="2084831" cy="3017520"/>
          </a:xfrm>
          <a:prstGeom prst="roundRect">
            <a:avLst>
              <a:gd name="adj" fmla="val 7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17240" y="2606040"/>
            <a:ext cx="768096" cy="768096"/>
          </a:xfrm>
          <a:prstGeom prst="ellipse">
            <a:avLst/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17240" y="2606040"/>
            <a:ext cx="768096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2841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8601" y="3566160"/>
            <a:ext cx="18653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F7FC"/>
                </a:solidFill>
                <a:latin typeface="Segoe UI"/>
              </a:rPr>
              <a:t>Gather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3465" y="4160520"/>
            <a:ext cx="175564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Collect metadata for those tables plus any uploaded tables.</a:t>
            </a:r>
          </a:p>
        </p:txBody>
      </p:sp>
      <p:sp>
        <p:nvSpPr>
          <p:cNvPr id="19" name="Chevron 18"/>
          <p:cNvSpPr/>
          <p:nvPr/>
        </p:nvSpPr>
        <p:spPr>
          <a:xfrm>
            <a:off x="4925416" y="3675888"/>
            <a:ext cx="201168" cy="329184"/>
          </a:xfrm>
          <a:prstGeom prst="chevron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053432" y="2331720"/>
            <a:ext cx="2084831" cy="3017520"/>
          </a:xfrm>
          <a:prstGeom prst="roundRect">
            <a:avLst>
              <a:gd name="adj" fmla="val 7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11799" y="2606040"/>
            <a:ext cx="768096" cy="768096"/>
          </a:xfrm>
          <a:prstGeom prst="ellipse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11799" y="2606040"/>
            <a:ext cx="768096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2841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3160" y="3566160"/>
            <a:ext cx="18653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F7FC"/>
                </a:solidFill>
                <a:latin typeface="Segoe UI"/>
              </a:rPr>
              <a:t>Load Join Graph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8024" y="4160520"/>
            <a:ext cx="175564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Pull the database's foreign-key join graph for correct joins.</a:t>
            </a:r>
          </a:p>
        </p:txBody>
      </p:sp>
      <p:sp>
        <p:nvSpPr>
          <p:cNvPr id="25" name="Chevron 24"/>
          <p:cNvSpPr/>
          <p:nvPr/>
        </p:nvSpPr>
        <p:spPr>
          <a:xfrm>
            <a:off x="7119975" y="3675888"/>
            <a:ext cx="201168" cy="329184"/>
          </a:xfrm>
          <a:prstGeom prst="chevron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247991" y="2331720"/>
            <a:ext cx="2084831" cy="3017520"/>
          </a:xfrm>
          <a:prstGeom prst="roundRect">
            <a:avLst>
              <a:gd name="adj" fmla="val 7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906358" y="2606040"/>
            <a:ext cx="768096" cy="768096"/>
          </a:xfrm>
          <a:prstGeom prst="ellipse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06358" y="2606040"/>
            <a:ext cx="768096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2841"/>
                </a:solidFill>
                <a:latin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719" y="3566160"/>
            <a:ext cx="18653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F7FC"/>
                </a:solidFill>
                <a:latin typeface="Segoe UI"/>
              </a:rPr>
              <a:t>Generate 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12583" y="4160520"/>
            <a:ext cx="175564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GPT-4.1 writes the SQL and flags dangerous operations in one call.</a:t>
            </a:r>
          </a:p>
        </p:txBody>
      </p:sp>
      <p:sp>
        <p:nvSpPr>
          <p:cNvPr id="31" name="Chevron 30"/>
          <p:cNvSpPr/>
          <p:nvPr/>
        </p:nvSpPr>
        <p:spPr>
          <a:xfrm>
            <a:off x="9314534" y="3675888"/>
            <a:ext cx="201168" cy="329184"/>
          </a:xfrm>
          <a:prstGeom prst="chevron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442550" y="2331720"/>
            <a:ext cx="2084831" cy="3017520"/>
          </a:xfrm>
          <a:prstGeom prst="roundRect">
            <a:avLst>
              <a:gd name="adj" fmla="val 7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0100917" y="2606040"/>
            <a:ext cx="768096" cy="768096"/>
          </a:xfrm>
          <a:prstGeom prst="ellipse">
            <a:avLst/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100917" y="2606040"/>
            <a:ext cx="768096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2841"/>
                </a:solidFill>
                <a:latin typeface="Segoe U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2278" y="3566160"/>
            <a:ext cx="18653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F7FC"/>
                </a:solidFill>
                <a:latin typeface="Segoe UI"/>
              </a:rPr>
              <a:t>Validate &amp; Execute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7142" y="4160520"/>
            <a:ext cx="175564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Validate, run read-only against PostgreSQL, then AI-summarize the rows.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AI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F7FC"/>
                </a:solidFill>
                <a:latin typeface="Segoe UI"/>
              </a:rPr>
              <a:t>Semantic Table Retrieval (RAG)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AFC2D4"/>
                </a:solidFill>
                <a:latin typeface="Segoe UI"/>
              </a:rPr>
              <a:t>Instead of dumping the whole schema into the prompt, we retrieve only the tables that matter — faster, cheaper and more accurate.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6587" y="2514600"/>
            <a:ext cx="2377440" cy="1371600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 w="15875">
            <a:solidFill>
              <a:srgbClr val="2BB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6587" y="27889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2F7FC"/>
                </a:solidFill>
                <a:latin typeface="Segoe UI"/>
              </a:rPr>
              <a:t>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587" y="32918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BB8E6"/>
                </a:solidFill>
                <a:latin typeface="Segoe UI"/>
              </a:rPr>
              <a:t>Free-text query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28035" y="3063240"/>
            <a:ext cx="365760" cy="274320"/>
          </a:xfrm>
          <a:prstGeom prst="rightArrow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66947" y="2514600"/>
            <a:ext cx="2377440" cy="1371600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 w="15875">
            <a:solidFill>
              <a:srgbClr val="B56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66947" y="27889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2F7FC"/>
                </a:solidFill>
                <a:latin typeface="Segoe UI"/>
              </a:rPr>
              <a:t>Embedding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6947" y="32918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56ACE"/>
                </a:solidFill>
                <a:latin typeface="Segoe UI"/>
              </a:rPr>
              <a:t>text-embedding-3-small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08395" y="3063240"/>
            <a:ext cx="365760" cy="274320"/>
          </a:xfrm>
          <a:prstGeom prst="rightArrow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47307" y="2514600"/>
            <a:ext cx="2377440" cy="1371600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 w="15875">
            <a:solidFill>
              <a:srgbClr val="F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47307" y="27889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2F7FC"/>
                </a:solidFill>
                <a:latin typeface="Segoe UI"/>
              </a:rPr>
              <a:t>FAISS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32918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0883E"/>
                </a:solidFill>
                <a:latin typeface="Segoe UI"/>
              </a:rPr>
              <a:t>IndexFlatL2 · top-k=5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788755" y="3063240"/>
            <a:ext cx="365760" cy="274320"/>
          </a:xfrm>
          <a:prstGeom prst="rightArrow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227667" y="2514600"/>
            <a:ext cx="2377440" cy="1371600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 w="15875">
            <a:solidFill>
              <a:srgbClr val="57B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27667" y="27889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2F7FC"/>
                </a:solidFill>
                <a:latin typeface="Segoe UI"/>
              </a:rPr>
              <a:t>Relevant Tables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7667" y="32918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7B847"/>
                </a:solidFill>
                <a:latin typeface="Segoe UI"/>
              </a:rPr>
              <a:t>L2 distance ≤ 2.5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43484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77240" y="4434840"/>
            <a:ext cx="3456432" cy="91440"/>
          </a:xfrm>
          <a:prstGeom prst="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4617720"/>
            <a:ext cx="29992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9ED5"/>
                </a:solidFill>
                <a:latin typeface="Segoe UI"/>
              </a:rPr>
              <a:t>Startup embedding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029200"/>
            <a:ext cx="2999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All tables embedded concurrently on boot (bounded by a semaphore).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6552" y="443484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416552" y="4434840"/>
            <a:ext cx="3456432" cy="9144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45152" y="4617720"/>
            <a:ext cx="29992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0883E"/>
                </a:solidFill>
                <a:latin typeface="Segoe UI"/>
              </a:rPr>
              <a:t>On disk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5029200"/>
            <a:ext cx="2999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Indices saved as *_index.faiss with *_metadata.json companions.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55864" y="443484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055864" y="4434840"/>
            <a:ext cx="3456432" cy="91440"/>
          </a:xfrm>
          <a:prstGeom prst="rect">
            <a:avLst/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84464" y="4617720"/>
            <a:ext cx="29992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B56ACE"/>
                </a:solidFill>
                <a:latin typeface="Segoe UI"/>
              </a:rPr>
              <a:t>Async &amp; parallel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5029200"/>
            <a:ext cx="2999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Async Azure client embeds many tables at once for speed.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AI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F7FC"/>
                </a:solidFill>
                <a:latin typeface="Segoe UI"/>
              </a:rPr>
              <a:t>SQL Generation &amp; Safety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9ED5"/>
                </a:solidFill>
                <a:latin typeface="Segoe UI"/>
              </a:rPr>
              <a:t>What goes into the prompt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9514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88136" y="2240280"/>
            <a:ext cx="5175504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2F7FC"/>
                </a:solidFill>
                <a:latin typeface="Segoe UI"/>
              </a:rPr>
              <a:t>Question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The user's natural-language request.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07238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88136" y="3017520"/>
            <a:ext cx="5175504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2F7FC"/>
                </a:solidFill>
                <a:latin typeface="Segoe UI"/>
              </a:rPr>
              <a:t>Table schemas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Columns, types, nullability, primary keys.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962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88136" y="3794760"/>
            <a:ext cx="5175504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2F7FC"/>
                </a:solidFill>
                <a:latin typeface="Segoe UI"/>
              </a:rPr>
              <a:t>Join paths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Foreign-key relationships between tables.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268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88136" y="4572000"/>
            <a:ext cx="5175504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2F7FC"/>
                </a:solidFill>
                <a:latin typeface="Segoe UI"/>
              </a:rPr>
              <a:t>Rules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SELECT-only, pick specific columns, 2-dp numerics.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1691640"/>
            <a:ext cx="4846320" cy="4114800"/>
          </a:xfrm>
          <a:prstGeom prst="roundRect">
            <a:avLst>
              <a:gd name="adj" fmla="val 6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83680" y="1691640"/>
            <a:ext cx="4846320" cy="566928"/>
          </a:xfrm>
          <a:prstGeom prst="roundRect">
            <a:avLst>
              <a:gd name="adj" fmla="val 20000"/>
            </a:avLst>
          </a:prstGeom>
          <a:solidFill>
            <a:srgbClr val="E85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169164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F7FC"/>
                </a:solidFill>
                <a:latin typeface="Segoe UI"/>
              </a:rPr>
              <a:t>⚠  SAFETY GUARDRAILS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25694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85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23176" y="2514600"/>
            <a:ext cx="4123944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7FC"/>
                </a:solidFill>
                <a:latin typeface="Segoe UI"/>
              </a:rPr>
              <a:t>Single-call danger check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AFC2D4"/>
                </a:solidFill>
                <a:latin typeface="Segoe UI"/>
              </a:rPr>
              <a:t>LLM returns DANGEROUS / REASON / SQL together.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334670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85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23176" y="3291840"/>
            <a:ext cx="4123944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7FC"/>
                </a:solidFill>
                <a:latin typeface="Segoe UI"/>
              </a:rPr>
              <a:t>Blocked, not run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AFC2D4"/>
                </a:solidFill>
                <a:latin typeface="Segoe UI"/>
              </a:rPr>
              <a:t>DELETE, DROP, UPDATE, INSERT are shown but never executed.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12280" y="412394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23176" y="4069080"/>
            <a:ext cx="4123944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7FC"/>
                </a:solidFill>
                <a:latin typeface="Segoe UI"/>
              </a:rPr>
              <a:t>Query validation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AFC2D4"/>
                </a:solidFill>
                <a:latin typeface="Segoe UI"/>
              </a:rPr>
              <a:t>Syntax checked before it reaches the database.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80" y="490118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23176" y="4846320"/>
            <a:ext cx="4123944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7FC"/>
                </a:solidFill>
                <a:latin typeface="Segoe UI"/>
              </a:rPr>
              <a:t>Read-only + LIMIT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AFC2D4"/>
                </a:solidFill>
                <a:latin typeface="Segoe UI"/>
              </a:rPr>
              <a:t>Auto-applies a row LIMIT; results capped for safety.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AI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F7FC"/>
                </a:solidFill>
                <a:latin typeface="Segoe UI"/>
              </a:rPr>
              <a:t>Join-Graph Intelligence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AFC2D4"/>
                </a:solidFill>
                <a:latin typeface="Segoe UI"/>
              </a:rPr>
              <a:t>At startup the backend inspects every table's foreign keys and builds an adjacency list of joins per database — so multi-table questions are answered correctly.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74320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 w="19050">
            <a:solidFill>
              <a:srgbClr val="2BB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97280" y="2743200"/>
            <a:ext cx="2011680" cy="310896"/>
          </a:xfrm>
          <a:prstGeom prst="roundRect">
            <a:avLst>
              <a:gd name="adj" fmla="val 20000"/>
            </a:avLst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743200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2841"/>
                </a:solidFill>
                <a:latin typeface="Segoe UI"/>
              </a:rPr>
              <a:t>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3317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 w="19050">
            <a:solidFill>
              <a:srgbClr val="0F9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29200" y="2331720"/>
            <a:ext cx="2011680" cy="310896"/>
          </a:xfrm>
          <a:prstGeom prst="roundRect">
            <a:avLst>
              <a:gd name="adj" fmla="val 2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0" y="2331720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2841"/>
                </a:solidFill>
                <a:latin typeface="Segoe UI"/>
              </a:rPr>
              <a:t>orders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356616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 w="19050">
            <a:solidFill>
              <a:srgbClr val="B56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29200" y="3566160"/>
            <a:ext cx="2011680" cy="310896"/>
          </a:xfrm>
          <a:prstGeom prst="roundRect">
            <a:avLst>
              <a:gd name="adj" fmla="val 20000"/>
            </a:avLst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0" y="3566160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2841"/>
                </a:solidFill>
                <a:latin typeface="Segoe UI"/>
              </a:rPr>
              <a:t>products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274320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 w="19050">
            <a:solidFill>
              <a:srgbClr val="F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961120" y="2743200"/>
            <a:ext cx="2011680" cy="310896"/>
          </a:xfrm>
          <a:prstGeom prst="roundRect">
            <a:avLst>
              <a:gd name="adj" fmla="val 20000"/>
            </a:avLst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61120" y="2743200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2841"/>
                </a:solidFill>
                <a:latin typeface="Segoe UI"/>
              </a:rPr>
              <a:t>order_items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3200400"/>
            <a:ext cx="1920240" cy="36576"/>
          </a:xfrm>
          <a:prstGeom prst="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040880" y="2788920"/>
            <a:ext cx="1920240" cy="36576"/>
          </a:xfrm>
          <a:prstGeom prst="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28803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AFC2D4"/>
                </a:solidFill>
                <a:latin typeface="Segoe UI"/>
              </a:rPr>
              <a:t>customer_id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46888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AFC2D4"/>
                </a:solidFill>
                <a:latin typeface="Segoe UI"/>
              </a:rPr>
              <a:t>order_id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48056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77240" y="4480560"/>
            <a:ext cx="3456432" cy="91440"/>
          </a:xfrm>
          <a:prstGeom prst="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4663440"/>
            <a:ext cx="29992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9ED5"/>
                </a:solidFill>
                <a:latin typeface="Segoe UI"/>
              </a:rPr>
              <a:t>Built once at boot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047488"/>
            <a:ext cx="2999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SQLAlchemy inspector reads FK constraints for all databases.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16552" y="448056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416552" y="4480560"/>
            <a:ext cx="3456432" cy="91440"/>
          </a:xfrm>
          <a:prstGeom prst="rect">
            <a:avLst/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45152" y="4663440"/>
            <a:ext cx="29992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56ACE"/>
                </a:solidFill>
                <a:latin typeface="Segoe UI"/>
              </a:rPr>
              <a:t>Filtered per query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5152" y="5047488"/>
            <a:ext cx="2999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Only joins linking the retrieved tables enter the prompt.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55864" y="448056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055864" y="4480560"/>
            <a:ext cx="3456432" cy="9144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84464" y="4663440"/>
            <a:ext cx="29992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0883E"/>
                </a:solidFill>
                <a:latin typeface="Segoe UI"/>
              </a:rPr>
              <a:t>Path extraction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4464" y="5047488"/>
            <a:ext cx="2999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The actual join path used is parsed back from the final SQL.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F7FC"/>
                </a:solidFill>
                <a:latin typeface="Segoe UI"/>
              </a:rPr>
              <a:t>Upload &amp; Query Your Own Data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AFC2D4"/>
                </a:solidFill>
                <a:latin typeface="Segoe UI"/>
              </a:rPr>
              <a:t>Bring a CSV or Excel file and query it immediately alongside the database tables.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6587" y="2468880"/>
            <a:ext cx="2377440" cy="1417320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 w="15875">
            <a:solidFill>
              <a:srgbClr val="2BB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6587" y="2761488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2F7FC"/>
                </a:solidFill>
                <a:latin typeface="Segoe UI"/>
              </a:rPr>
              <a:t>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587" y="32918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BB8E6"/>
                </a:solidFill>
                <a:latin typeface="Segoe UI"/>
              </a:rPr>
              <a:t>CSV / Excel via the UI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28035" y="3035808"/>
            <a:ext cx="365760" cy="274320"/>
          </a:xfrm>
          <a:prstGeom prst="rightArrow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66947" y="2468880"/>
            <a:ext cx="2377440" cy="1417320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 w="15875">
            <a:solidFill>
              <a:srgbClr val="B56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66947" y="2761488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2F7FC"/>
                </a:solidFill>
                <a:latin typeface="Segoe UI"/>
              </a:rPr>
              <a:t>Parse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6947" y="32918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56ACE"/>
                </a:solidFill>
                <a:latin typeface="Segoe UI"/>
              </a:rPr>
              <a:t>pandas reads the file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08395" y="3035808"/>
            <a:ext cx="365760" cy="274320"/>
          </a:xfrm>
          <a:prstGeom prst="rightArrow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47307" y="2468880"/>
            <a:ext cx="2377440" cy="1417320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 w="15875">
            <a:solidFill>
              <a:srgbClr val="F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47307" y="2761488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2F7FC"/>
                </a:solidFill>
                <a:latin typeface="Segoe UI"/>
              </a:rPr>
              <a:t>Create 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32918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0883E"/>
                </a:solidFill>
                <a:latin typeface="Segoe UI"/>
              </a:rPr>
              <a:t>Temp table in PostgreSQL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788755" y="3035808"/>
            <a:ext cx="365760" cy="274320"/>
          </a:xfrm>
          <a:prstGeom prst="rightArrow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227667" y="2468880"/>
            <a:ext cx="2377440" cy="1417320"/>
          </a:xfrm>
          <a:prstGeom prst="roundRect">
            <a:avLst>
              <a:gd name="adj" fmla="val 10000"/>
            </a:avLst>
          </a:prstGeom>
          <a:solidFill>
            <a:srgbClr val="16395A"/>
          </a:solidFill>
          <a:ln w="15875">
            <a:solidFill>
              <a:srgbClr val="57B8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27667" y="2761488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2F7FC"/>
                </a:solidFill>
                <a:latin typeface="Segoe UI"/>
              </a:rPr>
              <a:t>Query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7667" y="32918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7B847"/>
                </a:solidFill>
                <a:latin typeface="Segoe UI"/>
              </a:rPr>
              <a:t>Always in LLM context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43484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77240" y="4434840"/>
            <a:ext cx="3456432" cy="91440"/>
          </a:xfrm>
          <a:prstGeom prst="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4617720"/>
            <a:ext cx="29992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9ED5"/>
                </a:solidFill>
                <a:latin typeface="Segoe UI"/>
              </a:rPr>
              <a:t>Clean &amp; safe naming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010912"/>
            <a:ext cx="2999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Columns normalized; tables prefixed uploaded__ with a UUID.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6552" y="443484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416552" y="4434840"/>
            <a:ext cx="3456432" cy="9144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45152" y="4617720"/>
            <a:ext cx="29992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0883E"/>
                </a:solidFill>
                <a:latin typeface="Segoe UI"/>
              </a:rPr>
              <a:t>Auto-cleanup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5010912"/>
            <a:ext cx="2999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Leftover uploaded tables are removed on each restart.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55864" y="4434840"/>
            <a:ext cx="3456432" cy="137160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055864" y="4434840"/>
            <a:ext cx="3456432" cy="91440"/>
          </a:xfrm>
          <a:prstGeom prst="rect">
            <a:avLst/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84464" y="4617720"/>
            <a:ext cx="29992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56ACE"/>
                </a:solidFill>
                <a:latin typeface="Segoe UI"/>
              </a:rPr>
              <a:t>Shown under its DB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5010912"/>
            <a:ext cx="2999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Uploaded files appear with a 📤 icon under their database.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CODE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F7FC"/>
                </a:solidFill>
                <a:latin typeface="Segoe UI"/>
              </a:rPr>
              <a:t>Backend Architecture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AFC2D4"/>
                </a:solidFill>
                <a:latin typeface="Segoe UI"/>
              </a:rPr>
              <a:t>A clean, layered FastAPI codebase — thin routes delegate to a service pipeline.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94560"/>
            <a:ext cx="5257800" cy="1078992"/>
          </a:xfrm>
          <a:prstGeom prst="roundRect">
            <a:avLst>
              <a:gd name="adj" fmla="val 9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2194560"/>
            <a:ext cx="109728" cy="1078992"/>
          </a:xfrm>
          <a:prstGeom prst="rect">
            <a:avLst/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57B847"/>
                </a:solidFill>
                <a:latin typeface="Consolas"/>
              </a:rPr>
              <a:t>routes/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432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HTTP endpoints — query, upload, databases, metadata, join_graphs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194560"/>
            <a:ext cx="5257800" cy="1078992"/>
          </a:xfrm>
          <a:prstGeom prst="roundRect">
            <a:avLst>
              <a:gd name="adj" fmla="val 9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2194560"/>
            <a:ext cx="109728" cy="1078992"/>
          </a:xfrm>
          <a:prstGeom prst="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235915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9ED5"/>
                </a:solidFill>
                <a:latin typeface="Consolas"/>
              </a:rPr>
              <a:t>services/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432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query_pipeline.py — orchestrates the end-to-end flow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383280"/>
            <a:ext cx="5257800" cy="1078992"/>
          </a:xfrm>
          <a:prstGeom prst="roundRect">
            <a:avLst>
              <a:gd name="adj" fmla="val 9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3383280"/>
            <a:ext cx="109728" cy="1078992"/>
          </a:xfrm>
          <a:prstGeom prst="rect">
            <a:avLst/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354787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56ACE"/>
                </a:solidFill>
                <a:latin typeface="Consolas"/>
              </a:rPr>
              <a:t>core/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93192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embedder · vector_store · sql_generator · query_executor · file_handler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383280"/>
            <a:ext cx="5257800" cy="1078992"/>
          </a:xfrm>
          <a:prstGeom prst="roundRect">
            <a:avLst>
              <a:gd name="adj" fmla="val 9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09360" y="3383280"/>
            <a:ext cx="109728" cy="1078992"/>
          </a:xfrm>
          <a:prstGeom prst="rect">
            <a:avLst/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29400" y="354787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BB8E6"/>
                </a:solidFill>
                <a:latin typeface="Consolas"/>
              </a:rPr>
              <a:t>config/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3192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azure_client.py &amp; llm.py — Azure OpenAI + LangChain setup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572000"/>
            <a:ext cx="5257800" cy="1078992"/>
          </a:xfrm>
          <a:prstGeom prst="roundRect">
            <a:avLst>
              <a:gd name="adj" fmla="val 9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77240" y="4572000"/>
            <a:ext cx="109728" cy="1078992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97280" y="473659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0883E"/>
                </a:solidFill>
                <a:latin typeface="Consolas"/>
              </a:rPr>
              <a:t>db/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12064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db.py engine factory · db_models.py Pydantic request/response models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572000"/>
            <a:ext cx="5257800" cy="1078992"/>
          </a:xfrm>
          <a:prstGeom prst="roundRect">
            <a:avLst>
              <a:gd name="adj" fmla="val 9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09360" y="4572000"/>
            <a:ext cx="109728" cy="1078992"/>
          </a:xfrm>
          <a:prstGeom prst="rect">
            <a:avLst/>
          </a:prstGeom>
          <a:solidFill>
            <a:srgbClr val="D8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29400" y="473659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86BB0"/>
                </a:solidFill>
                <a:latin typeface="Consolas"/>
              </a:rPr>
              <a:t>utils/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12064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join_graph_builder · metadata_builder · prompt_builder · state · logger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CODE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F7FC"/>
                </a:solidFill>
                <a:latin typeface="Segoe UI"/>
              </a:rPr>
              <a:t>Frontend Architecture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AFC2D4"/>
                </a:solidFill>
                <a:latin typeface="Segoe UI"/>
              </a:rPr>
              <a:t>A React 18 single-page app with feature-grouped components and three main views.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3456432" cy="155448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77240" y="2148840"/>
            <a:ext cx="3456432" cy="457200"/>
          </a:xfrm>
          <a:prstGeom prst="roundRect">
            <a:avLst>
              <a:gd name="adj" fmla="val 18000"/>
            </a:avLst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34564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E2841"/>
                </a:solidFill>
                <a:latin typeface="Segoe UI"/>
              </a:rPr>
              <a:t>Query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743200"/>
            <a:ext cx="305409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Ask questions, see SQL, results, summary, complexity &amp; token usage.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2148840"/>
            <a:ext cx="3456432" cy="155448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416552" y="2148840"/>
            <a:ext cx="3456432" cy="457200"/>
          </a:xfrm>
          <a:prstGeom prst="roundRect">
            <a:avLst>
              <a:gd name="adj" fmla="val 18000"/>
            </a:avLst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16552" y="2148840"/>
            <a:ext cx="34564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E2841"/>
                </a:solidFill>
                <a:latin typeface="Segoe UI"/>
              </a:rPr>
              <a:t>Schema 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743200"/>
            <a:ext cx="305409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Browse databases, tables and columns; uploaded files shown inline.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2148840"/>
            <a:ext cx="3456432" cy="155448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55864" y="2148840"/>
            <a:ext cx="3456432" cy="457200"/>
          </a:xfrm>
          <a:prstGeom prst="roundRect">
            <a:avLst>
              <a:gd name="adj" fmla="val 18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55864" y="2148840"/>
            <a:ext cx="34564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E2841"/>
                </a:solidFill>
                <a:latin typeface="Segoe UI"/>
              </a:rPr>
              <a:t>Data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2743200"/>
            <a:ext cx="305409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AFC2D4"/>
                </a:solidFill>
                <a:latin typeface="Segoe UI"/>
              </a:rPr>
              <a:t>Inspect raw table data with a full-screen table modal.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39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9ED5"/>
                </a:solidFill>
                <a:latin typeface="Segoe UI"/>
              </a:rPr>
              <a:t>Component groups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526280"/>
            <a:ext cx="3456432" cy="530352"/>
          </a:xfrm>
          <a:prstGeom prst="roundRect">
            <a:avLst>
              <a:gd name="adj" fmla="val 18000"/>
            </a:avLst>
          </a:prstGeom>
          <a:solidFill>
            <a:srgbClr val="1F4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41832" y="471830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8720" y="4526280"/>
            <a:ext cx="2907792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2F7FC"/>
                </a:solidFill>
                <a:latin typeface="Segoe UI"/>
              </a:rPr>
              <a:t>layout/ — Sidebar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16552" y="4526280"/>
            <a:ext cx="3456432" cy="530352"/>
          </a:xfrm>
          <a:prstGeom prst="roundRect">
            <a:avLst>
              <a:gd name="adj" fmla="val 18000"/>
            </a:avLst>
          </a:prstGeom>
          <a:solidFill>
            <a:srgbClr val="1F4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581144" y="471830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28032" y="4526280"/>
            <a:ext cx="2907792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2F7FC"/>
                </a:solidFill>
                <a:latin typeface="Segoe UI"/>
              </a:rPr>
              <a:t>query/ — Results, Modal, ChatMessage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5864" y="4526280"/>
            <a:ext cx="3456432" cy="530352"/>
          </a:xfrm>
          <a:prstGeom prst="roundRect">
            <a:avLst>
              <a:gd name="adj" fmla="val 18000"/>
            </a:avLst>
          </a:prstGeom>
          <a:solidFill>
            <a:srgbClr val="1F4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220456" y="471830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67344" y="4526280"/>
            <a:ext cx="2907792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2F7FC"/>
                </a:solidFill>
                <a:latin typeface="Segoe UI"/>
              </a:rPr>
              <a:t>schema/ — DatabaseSchemaView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84648"/>
            <a:ext cx="3456432" cy="530352"/>
          </a:xfrm>
          <a:prstGeom prst="roundRect">
            <a:avLst>
              <a:gd name="adj" fmla="val 18000"/>
            </a:avLst>
          </a:prstGeom>
          <a:solidFill>
            <a:srgbClr val="1F4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41832" y="537667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88720" y="5184648"/>
            <a:ext cx="2907792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2F7FC"/>
                </a:solidFill>
                <a:latin typeface="Segoe UI"/>
              </a:rPr>
              <a:t>data/ — ViewDataTable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16552" y="5184648"/>
            <a:ext cx="3456432" cy="530352"/>
          </a:xfrm>
          <a:prstGeom prst="roundRect">
            <a:avLst>
              <a:gd name="adj" fmla="val 18000"/>
            </a:avLst>
          </a:prstGeom>
          <a:solidFill>
            <a:srgbClr val="1F4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581144" y="537667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828032" y="5184648"/>
            <a:ext cx="2907792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2F7FC"/>
                </a:solidFill>
                <a:latin typeface="Segoe UI"/>
              </a:rPr>
              <a:t>upload/ — FileUploadModal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55864" y="5184648"/>
            <a:ext cx="3456432" cy="530352"/>
          </a:xfrm>
          <a:prstGeom prst="roundRect">
            <a:avLst>
              <a:gd name="adj" fmla="val 18000"/>
            </a:avLst>
          </a:prstGeom>
          <a:solidFill>
            <a:srgbClr val="1F4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8220456" y="537667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67344" y="5184648"/>
            <a:ext cx="2907792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2F7FC"/>
                </a:solidFill>
                <a:latin typeface="Segoe UI"/>
              </a:rPr>
              <a:t>common/ — FullScreenTableModal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F7FC"/>
                </a:solidFill>
                <a:latin typeface="Segoe UI"/>
              </a:rPr>
              <a:t>REST API Endpoints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45920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14400" y="1737360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8686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E2841"/>
                </a:solidFill>
                <a:latin typeface="Segoe UI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645920"/>
            <a:ext cx="38404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F7FC"/>
                </a:solidFill>
                <a:latin typeface="Consolas"/>
              </a:rPr>
              <a:t>/query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645920"/>
            <a:ext cx="53035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FC2D4"/>
                </a:solidFill>
                <a:latin typeface="Segoe UI"/>
              </a:rPr>
              <a:t>Natural-language query → SQL, results &amp;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189988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14400" y="2281428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281428"/>
            <a:ext cx="8686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E2841"/>
                </a:solidFill>
                <a:latin typeface="Segoe UI"/>
              </a:rPr>
              <a:t>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189988"/>
            <a:ext cx="38404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F7FC"/>
                </a:solidFill>
                <a:latin typeface="Consolas"/>
              </a:rPr>
              <a:t>/query/search-tables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189988"/>
            <a:ext cx="53035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FC2D4"/>
                </a:solidFill>
                <a:latin typeface="Segoe UI"/>
              </a:rPr>
              <a:t>Semantic table search via embeddings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734056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14400" y="2825496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2825496"/>
            <a:ext cx="8686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E2841"/>
                </a:solidFill>
                <a:latin typeface="Segoe UI"/>
              </a:rPr>
              <a:t>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2734056"/>
            <a:ext cx="38404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F7FC"/>
                </a:solidFill>
                <a:latin typeface="Consolas"/>
              </a:rPr>
              <a:t>/databases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734056"/>
            <a:ext cx="53035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FC2D4"/>
                </a:solidFill>
                <a:latin typeface="Segoe UI"/>
              </a:rPr>
              <a:t>List all accessible PostgreSQL databases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278124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14400" y="3369564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3369564"/>
            <a:ext cx="8686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E2841"/>
                </a:solidFill>
                <a:latin typeface="Segoe UI"/>
              </a:rPr>
              <a:t>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3278124"/>
            <a:ext cx="38404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F7FC"/>
                </a:solidFill>
                <a:latin typeface="Consolas"/>
              </a:rPr>
              <a:t>/databases/{db}/tables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278124"/>
            <a:ext cx="53035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FC2D4"/>
                </a:solidFill>
                <a:latin typeface="Segoe UI"/>
              </a:rPr>
              <a:t>List tables (with row counts) in a database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822192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14400" y="3913632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3913632"/>
            <a:ext cx="8686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E2841"/>
                </a:solidFill>
                <a:latin typeface="Segoe UI"/>
              </a:rPr>
              <a:t>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3822192"/>
            <a:ext cx="38404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F7FC"/>
                </a:solidFill>
                <a:latin typeface="Consolas"/>
              </a:rPr>
              <a:t>/databases/{db}/schema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3822192"/>
            <a:ext cx="53035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FC2D4"/>
                </a:solidFill>
                <a:latin typeface="Segoe UI"/>
              </a:rPr>
              <a:t>Full schema for every table in a database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366260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14400" y="4457700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" y="4457700"/>
            <a:ext cx="8686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E2841"/>
                </a:solidFill>
                <a:latin typeface="Segoe UI"/>
              </a:rPr>
              <a:t>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65960" y="4366260"/>
            <a:ext cx="38404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F7FC"/>
                </a:solidFill>
                <a:latin typeface="Consolas"/>
              </a:rPr>
              <a:t>/upload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4366260"/>
            <a:ext cx="53035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FC2D4"/>
                </a:solidFill>
                <a:latin typeface="Segoe UI"/>
              </a:rPr>
              <a:t>Upload a CSV / Excel file as a queryable table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4910328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14400" y="5001768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5001768"/>
            <a:ext cx="8686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E2841"/>
                </a:solidFill>
                <a:latin typeface="Segoe UI"/>
              </a:rPr>
              <a:t>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65960" y="4910328"/>
            <a:ext cx="38404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F7FC"/>
                </a:solidFill>
                <a:latin typeface="Consolas"/>
              </a:rPr>
              <a:t>/upload/tables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910328"/>
            <a:ext cx="53035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FC2D4"/>
                </a:solidFill>
                <a:latin typeface="Segoe UI"/>
              </a:rPr>
              <a:t>List uploaded tables for a database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" y="5454396"/>
            <a:ext cx="10607040" cy="512064"/>
          </a:xfrm>
          <a:prstGeom prst="roundRect">
            <a:avLst>
              <a:gd name="adj" fmla="val 15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14400" y="5545836"/>
            <a:ext cx="868680" cy="329184"/>
          </a:xfrm>
          <a:prstGeom prst="roundRect">
            <a:avLst>
              <a:gd name="adj" fmla="val 25000"/>
            </a:avLst>
          </a:prstGeom>
          <a:solidFill>
            <a:srgbClr val="D8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4400" y="5545836"/>
            <a:ext cx="8686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E2841"/>
                </a:solidFill>
                <a:latin typeface="Segoe UI"/>
              </a:rPr>
              <a:t>GET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5454396"/>
            <a:ext cx="38404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F7FC"/>
                </a:solidFill>
                <a:latin typeface="Consolas"/>
              </a:rPr>
              <a:t>/metadata  ·  /join-graphs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5454396"/>
            <a:ext cx="53035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FC2D4"/>
                </a:solidFill>
                <a:latin typeface="Segoe UI"/>
              </a:rPr>
              <a:t>Cached metadata &amp; foreign-key join graphs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F7FC"/>
                </a:solidFill>
                <a:latin typeface="Segoe UI"/>
              </a:rPr>
              <a:t>Security &amp; Safety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" y="2103120"/>
            <a:ext cx="457200" cy="457200"/>
          </a:xfrm>
          <a:prstGeom prst="ellipse">
            <a:avLst/>
          </a:prstGeom>
          <a:solidFill>
            <a:srgbClr val="E85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E2841"/>
                </a:solidFill>
                <a:latin typeface="Segoe U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11680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Destructive-op blocking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395728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DELETE / DROP / UPDATE / INSERT are detected and never executed.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37960" y="2103120"/>
            <a:ext cx="457200" cy="457200"/>
          </a:xfrm>
          <a:prstGeom prst="ellipse">
            <a:avLst/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21031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E2841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011680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Read-only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395728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Queries run with an enforced row LIMIT for safe previews.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0040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05840" y="3474720"/>
            <a:ext cx="457200" cy="457200"/>
          </a:xfrm>
          <a:prstGeom prst="ellipse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4747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E2841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383280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Query 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767328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Basic syntax validation before hitting the database.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20040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537960" y="3474720"/>
            <a:ext cx="457200" cy="457200"/>
          </a:xfrm>
          <a:prstGeom prst="ellipse">
            <a:avLst/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60" y="34747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E2841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383280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Secrets in env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3767328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Azure keys &amp; DB credentials live in .env.local, never committed.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57200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005840" y="4846320"/>
            <a:ext cx="457200" cy="457200"/>
          </a:xfrm>
          <a:prstGeom prst="ellipse">
            <a:avLst/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5840" y="48463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E2841"/>
                </a:solidFill>
                <a:latin typeface="Segoe U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4754880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Parameterized engine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138928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SQLAlchemy engine per database with managed connections.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57200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537960" y="4846320"/>
            <a:ext cx="457200" cy="457200"/>
          </a:xfrm>
          <a:prstGeom prst="ellipse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37960" y="48463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E2841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4754880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Session cleanup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5138928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Uploaded tables &amp; embeddings are cleaned up on shutdown/restart.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00584" cy="868680"/>
          </a:xfrm>
          <a:prstGeom prst="roundRect">
            <a:avLst>
              <a:gd name="adj" fmla="val 50000"/>
            </a:avLst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9ED5"/>
                </a:solidFill>
                <a:latin typeface="Segoe UI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F7FC"/>
                </a:solidFill>
                <a:latin typeface="Segoe UI"/>
              </a:rPr>
              <a:t>Future Roadmap</a:t>
            </a:r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064240" y="6419088"/>
            <a:ext cx="868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FC2D4"/>
                </a:solidFill>
                <a:latin typeface="Segoe U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5257800" cy="118872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109728" cy="1188720"/>
          </a:xfrm>
          <a:prstGeom prst="rect">
            <a:avLst/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ight Arrow 8"/>
          <p:cNvSpPr/>
          <p:nvPr/>
        </p:nvSpPr>
        <p:spPr>
          <a:xfrm>
            <a:off x="1069848" y="2295143"/>
            <a:ext cx="384048" cy="310896"/>
          </a:xfrm>
          <a:prstGeom prst="rightArrow">
            <a:avLst/>
          </a:prstGeom>
          <a:solidFill>
            <a:srgbClr val="2B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45920" y="2057399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Query history persistence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41447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Save and revisit past questions and results.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74519"/>
            <a:ext cx="5257800" cy="118872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1874519"/>
            <a:ext cx="109728" cy="1188720"/>
          </a:xfrm>
          <a:prstGeom prst="rect">
            <a:avLst/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6601968" y="2295143"/>
            <a:ext cx="384048" cy="310896"/>
          </a:xfrm>
          <a:prstGeom prst="rightArrow">
            <a:avLst/>
          </a:prstGeom>
          <a:solidFill>
            <a:srgbClr val="B56A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78040" y="2057399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User authentication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441447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Per-user access and database permissions.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1"/>
            <a:ext cx="5257800" cy="118872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3227831"/>
            <a:ext cx="109728" cy="1188720"/>
          </a:xfrm>
          <a:prstGeom prst="rect">
            <a:avLst/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ight Arrow 18"/>
          <p:cNvSpPr/>
          <p:nvPr/>
        </p:nvSpPr>
        <p:spPr>
          <a:xfrm>
            <a:off x="1069848" y="3648455"/>
            <a:ext cx="384048" cy="310896"/>
          </a:xfrm>
          <a:prstGeom prst="rightArrow">
            <a:avLst/>
          </a:prstGeom>
          <a:solidFill>
            <a:srgbClr val="57B8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45920" y="3410711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Data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794759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Download results as CSV / JSON.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227831"/>
            <a:ext cx="5257800" cy="118872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09360" y="3227831"/>
            <a:ext cx="109728" cy="1188720"/>
          </a:xfrm>
          <a:prstGeom prst="rect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Arrow 23"/>
          <p:cNvSpPr/>
          <p:nvPr/>
        </p:nvSpPr>
        <p:spPr>
          <a:xfrm>
            <a:off x="6601968" y="3648455"/>
            <a:ext cx="384048" cy="310896"/>
          </a:xfrm>
          <a:prstGeom prst="rightArrow">
            <a:avLst/>
          </a:prstGeom>
          <a:solidFill>
            <a:srgbClr val="F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78040" y="3410711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Optimization hints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3794759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Suggest indexes and query improvements.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581143"/>
            <a:ext cx="5257800" cy="118872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77240" y="4581143"/>
            <a:ext cx="109728" cy="1188720"/>
          </a:xfrm>
          <a:prstGeom prst="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ight Arrow 28"/>
          <p:cNvSpPr/>
          <p:nvPr/>
        </p:nvSpPr>
        <p:spPr>
          <a:xfrm>
            <a:off x="1069848" y="5001767"/>
            <a:ext cx="384048" cy="310896"/>
          </a:xfrm>
          <a:prstGeom prst="rightArrow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645920" y="4764023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Charts &amp; visualizations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148071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Auto-render graphs from result sets.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581143"/>
            <a:ext cx="5257800" cy="1188720"/>
          </a:xfrm>
          <a:prstGeom prst="roundRect">
            <a:avLst>
              <a:gd name="adj" fmla="val 8000"/>
            </a:avLst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09360" y="4581143"/>
            <a:ext cx="109728" cy="1188720"/>
          </a:xfrm>
          <a:prstGeom prst="rect">
            <a:avLst/>
          </a:prstGeom>
          <a:solidFill>
            <a:srgbClr val="D8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ight Arrow 33"/>
          <p:cNvSpPr/>
          <p:nvPr/>
        </p:nvSpPr>
        <p:spPr>
          <a:xfrm>
            <a:off x="6601968" y="5001767"/>
            <a:ext cx="384048" cy="310896"/>
          </a:xfrm>
          <a:prstGeom prst="rightArrow">
            <a:avLst/>
          </a:prstGeom>
          <a:solidFill>
            <a:srgbClr val="D8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178040" y="4764023"/>
            <a:ext cx="4251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2F7FC"/>
                </a:solidFill>
                <a:latin typeface="Segoe UI"/>
              </a:rPr>
              <a:t>Multi-turn conversations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5148071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FC2D4"/>
                </a:solidFill>
                <a:latin typeface="Segoe UI"/>
              </a:rPr>
              <a:t>Follow-up questions with shared context.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371600" y="3474720"/>
            <a:ext cx="4572000" cy="4572000"/>
          </a:xfrm>
          <a:prstGeom prst="ellipse">
            <a:avLst/>
          </a:prstGeom>
          <a:solidFill>
            <a:srgbClr val="163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-1463040"/>
            <a:ext cx="4206240" cy="4206240"/>
          </a:xfrm>
          <a:prstGeom prst="ellipse">
            <a:avLst/>
          </a:prstGeom>
          <a:solidFill>
            <a:srgbClr val="1F4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457200"/>
            <a:ext cx="2790897" cy="420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>
                <a:solidFill>
                  <a:srgbClr val="F2F7FC"/>
                </a:solidFill>
                <a:latin typeface="Segoe UI"/>
              </a:rPr>
              <a:t>Thank </a:t>
            </a:r>
            <a:r>
              <a:rPr sz="6000" b="1">
                <a:solidFill>
                  <a:srgbClr val="0F9ED5"/>
                </a:solidFill>
                <a:latin typeface="Segoe UI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56616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dirty="0">
                <a:solidFill>
                  <a:srgbClr val="AFC2D4"/>
                </a:solidFill>
                <a:latin typeface="Segoe UI"/>
              </a:rPr>
              <a:t>Text-to-SQL — making databases speak your language.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852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AFC2D4"/>
                </a:solidFill>
                <a:latin typeface="Segoe UI"/>
              </a:rPr>
              <a:t>Questions &amp; Discussion</a:t>
            </a:r>
          </a:p>
        </p:txBody>
      </p:sp>
      <p:pic>
        <p:nvPicPr>
          <p:cNvPr id="14" name="Picture 13" descr="g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00800"/>
            <a:ext cx="1941494" cy="29260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1432</Words>
  <Application>Microsoft Office PowerPoint</Application>
  <PresentationFormat>Widescreen</PresentationFormat>
  <Paragraphs>312</Paragraphs>
  <Slides>17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Aptos</vt:lpstr>
      <vt:lpstr>Arial</vt:lpstr>
      <vt:lpstr>Calibri</vt:lpstr>
      <vt:lpstr>Calibri bold</vt:lpstr>
      <vt:lpstr>Consolas</vt:lpstr>
      <vt:lpstr>Segoe UI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Gangwar Ritvik (ext.)</cp:lastModifiedBy>
  <cp:revision>2</cp:revision>
  <dcterms:created xsi:type="dcterms:W3CDTF">2013-01-27T09:14:16Z</dcterms:created>
  <dcterms:modified xsi:type="dcterms:W3CDTF">2026-06-21T17:08:51Z</dcterms:modified>
  <cp:category/>
</cp:coreProperties>
</file>