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280160"/>
            <a:ext cx="4754880" cy="4754880"/>
          </a:xfrm>
          <a:prstGeom prst="ellipse">
            <a:avLst/>
          </a:prstGeom>
          <a:solidFill>
            <a:srgbClr val="16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875520" y="3291840"/>
            <a:ext cx="3840480" cy="3840480"/>
          </a:xfrm>
          <a:prstGeom prst="ellipse">
            <a:avLst/>
          </a:prstGeom>
          <a:solidFill>
            <a:srgbClr val="1E2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051560"/>
            <a:ext cx="3383280" cy="329184"/>
          </a:xfrm>
          <a:prstGeom prst="roundRect">
            <a:avLst>
              <a:gd name="adj" fmla="val 50000"/>
            </a:avLst>
          </a:prstGeom>
          <a:solidFill>
            <a:srgbClr val="1E2B44"/>
          </a:solidFill>
          <a:ln w="1270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2DD4BF"/>
                </a:solidFill>
                <a:latin typeface="Segoe UI"/>
              </a:rPr>
              <a:t>FULL-STACK  •  AI  •  POSTGRESQL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6600" b="1">
                <a:solidFill>
                  <a:srgbClr val="F1F5F9"/>
                </a:solidFill>
                <a:latin typeface="Segoe UI"/>
              </a:rPr>
              <a:t>Text</a:t>
            </a:r>
            <a:r>
              <a:rPr sz="6600" b="1">
                <a:solidFill>
                  <a:srgbClr val="9FB0C3"/>
                </a:solidFill>
                <a:latin typeface="Segoe UI"/>
              </a:rPr>
              <a:t>-to-</a:t>
            </a:r>
            <a:r>
              <a:rPr sz="6600" b="1">
                <a:solidFill>
                  <a:srgbClr val="2DD4BF"/>
                </a:solidFill>
                <a:latin typeface="Segoe UI"/>
              </a:rPr>
              <a:t>SQL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063240"/>
            <a:ext cx="9875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F1F5F9"/>
                </a:solidFill>
                <a:latin typeface="Segoe UI"/>
              </a:rPr>
              <a:t>Turn plain-English questions into accurate SQL — and answers.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94760"/>
            <a:ext cx="9692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9FB0C3"/>
                </a:solidFill>
                <a:latin typeface="Segoe UI"/>
              </a:rPr>
              <a:t>A full-stack application that uses Azure OpenAI, semantic search and join-graph reasoning to generate, validate and run SQL on PostgreSQL.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892040"/>
            <a:ext cx="1210665" cy="329184"/>
          </a:xfrm>
          <a:prstGeom prst="roundRect">
            <a:avLst>
              <a:gd name="adj" fmla="val 50000"/>
            </a:avLst>
          </a:prstGeom>
          <a:solidFill>
            <a:srgbClr val="1E2B44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8BDF8"/>
                </a:solidFill>
                <a:latin typeface="Segoe UI"/>
              </a:rPr>
              <a:t>React 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98217" y="4892040"/>
            <a:ext cx="1111910" cy="329184"/>
          </a:xfrm>
          <a:prstGeom prst="roundRect">
            <a:avLst>
              <a:gd name="adj" fmla="val 50000"/>
            </a:avLst>
          </a:prstGeom>
          <a:solidFill>
            <a:srgbClr val="1E2B44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4D399"/>
                </a:solidFill>
                <a:latin typeface="Segoe UI"/>
              </a:rPr>
              <a:t>FastAPI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4719" y="4892040"/>
            <a:ext cx="2395728" cy="329184"/>
          </a:xfrm>
          <a:prstGeom prst="roundRect">
            <a:avLst>
              <a:gd name="adj" fmla="val 50000"/>
            </a:avLst>
          </a:prstGeom>
          <a:solidFill>
            <a:srgbClr val="1E2B44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A78BFA"/>
                </a:solidFill>
                <a:latin typeface="Segoe UI"/>
              </a:rPr>
              <a:t>Azure OpenAI GPT-4.1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39" y="489204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1E2B44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BBF24"/>
                </a:solidFill>
                <a:latin typeface="Segoe UI"/>
              </a:rPr>
              <a:t>FAISS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14031" y="4892040"/>
            <a:ext cx="1408176" cy="329184"/>
          </a:xfrm>
          <a:prstGeom prst="roundRect">
            <a:avLst>
              <a:gd name="adj" fmla="val 50000"/>
            </a:avLst>
          </a:prstGeom>
          <a:solidFill>
            <a:srgbClr val="1E2B44"/>
          </a:solidFill>
          <a:ln w="1270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2DD4BF"/>
                </a:solidFill>
                <a:latin typeface="Segoe UI"/>
              </a:rPr>
              <a:t>PostgreSQL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9436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9FB0C3"/>
                </a:solidFill>
                <a:latin typeface="Segoe UI"/>
              </a:rPr>
              <a:t>Project Presentation</a:t>
            </a:r>
            <a:r>
              <a:rPr sz="1200" b="0">
                <a:solidFill>
                  <a:srgbClr val="9FB0C3"/>
                </a:solidFill>
                <a:latin typeface="Segoe UI"/>
              </a:rPr>
              <a:t>   |   Natural Language → SQL Engine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02920"/>
            <a:ext cx="100584" cy="868680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DD4BF"/>
                </a:solidFill>
                <a:latin typeface="Segoe UI"/>
              </a:rP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1F5F9"/>
                </a:solidFill>
                <a:latin typeface="Segoe UI"/>
              </a:rPr>
              <a:t>Project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9FB0C3"/>
                </a:solidFill>
                <a:latin typeface="Segoe UI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9FB0C3"/>
                </a:solidFill>
                <a:latin typeface="Segoe UI"/>
              </a:rPr>
              <a:t>Text-to-SQL</a:t>
            </a:r>
            <a:r>
              <a:rPr sz="1000" b="0">
                <a:solidFill>
                  <a:srgbClr val="9FB0C3"/>
                </a:solidFill>
                <a:latin typeface="Segoe UI"/>
              </a:rPr>
              <a:t>  •  AI-Powered Query Engine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64922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FB0C3"/>
                </a:solidFill>
                <a:latin typeface="Segoe UI"/>
              </a:rPr>
              <a:t>Text-to-SQL lets non-technical users query a relational database by simply asking a question in natural language. The system finds the right tables, writes the SQL, runs it safely, and explains the result.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118104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88136" y="3063240"/>
            <a:ext cx="6272784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1F5F9"/>
                </a:solidFill>
                <a:latin typeface="Segoe UI"/>
              </a:rPr>
              <a:t>Conversational querying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FB0C3"/>
                </a:solidFill>
                <a:latin typeface="Segoe UI"/>
              </a:rPr>
              <a:t>No SQL knowledge required — just ask.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31336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8136" y="3776472"/>
            <a:ext cx="6272784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1F5F9"/>
                </a:solidFill>
                <a:latin typeface="Segoe UI"/>
              </a:rPr>
              <a:t>Retrieval-augmented (RAG)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FB0C3"/>
                </a:solidFill>
                <a:latin typeface="Segoe UI"/>
              </a:rPr>
              <a:t>Embeddings pick only the relevant tables.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544568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4489704"/>
            <a:ext cx="6272784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1F5F9"/>
                </a:solidFill>
                <a:latin typeface="Segoe UI"/>
              </a:rPr>
              <a:t>Schema &amp; join aware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FB0C3"/>
                </a:solidFill>
                <a:latin typeface="Segoe UI"/>
              </a:rPr>
              <a:t>Uses foreign-key relationships to join correctly.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257800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88136" y="5202936"/>
            <a:ext cx="6272784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1F5F9"/>
                </a:solidFill>
                <a:latin typeface="Segoe UI"/>
              </a:rPr>
              <a:t>Safe by design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FB0C3"/>
                </a:solidFill>
                <a:latin typeface="Segoe UI"/>
              </a:rPr>
              <a:t>Detects and blocks destructive operations.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35240" y="1737360"/>
            <a:ext cx="1874519" cy="1874519"/>
          </a:xfrm>
          <a:prstGeom prst="roundRect">
            <a:avLst>
              <a:gd name="adj" fmla="val 10000"/>
            </a:avLst>
          </a:prstGeom>
          <a:solidFill>
            <a:srgbClr val="16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635240" y="1737360"/>
            <a:ext cx="1874519" cy="109728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35240" y="2148840"/>
            <a:ext cx="187451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38BDF8"/>
                </a:solidFill>
                <a:latin typeface="Segoe U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26680" y="3035808"/>
            <a:ext cx="1691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9FB0C3"/>
                </a:solidFill>
                <a:latin typeface="Segoe UI"/>
              </a:rPr>
              <a:t>Application tiers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92640" y="1737360"/>
            <a:ext cx="1874519" cy="1874519"/>
          </a:xfrm>
          <a:prstGeom prst="roundRect">
            <a:avLst>
              <a:gd name="adj" fmla="val 10000"/>
            </a:avLst>
          </a:prstGeom>
          <a:solidFill>
            <a:srgbClr val="16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692640" y="1737360"/>
            <a:ext cx="1874519" cy="10972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0" y="2148840"/>
            <a:ext cx="187451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2DD4BF"/>
                </a:solidFill>
                <a:latin typeface="Segoe U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0" y="3035808"/>
            <a:ext cx="1691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9FB0C3"/>
                </a:solidFill>
                <a:latin typeface="Segoe UI"/>
              </a:rPr>
              <a:t>AI pipeline steps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35240" y="3794760"/>
            <a:ext cx="1874519" cy="1874519"/>
          </a:xfrm>
          <a:prstGeom prst="roundRect">
            <a:avLst>
              <a:gd name="adj" fmla="val 10000"/>
            </a:avLst>
          </a:prstGeom>
          <a:solidFill>
            <a:srgbClr val="16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635240" y="3794760"/>
            <a:ext cx="1874519" cy="109728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35240" y="4206240"/>
            <a:ext cx="187451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A78BFA"/>
                </a:solidFill>
                <a:latin typeface="Segoe UI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26680" y="5093208"/>
            <a:ext cx="1691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9FB0C3"/>
                </a:solidFill>
                <a:latin typeface="Segoe UI"/>
              </a:rPr>
              <a:t>LLM calls / query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692640" y="3794760"/>
            <a:ext cx="1874519" cy="1874519"/>
          </a:xfrm>
          <a:prstGeom prst="roundRect">
            <a:avLst>
              <a:gd name="adj" fmla="val 10000"/>
            </a:avLst>
          </a:prstGeom>
          <a:solidFill>
            <a:srgbClr val="16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692640" y="3794760"/>
            <a:ext cx="1874519" cy="10972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92640" y="4206240"/>
            <a:ext cx="187451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34D399"/>
                </a:solidFill>
                <a:latin typeface="Segoe UI"/>
              </a:rPr>
              <a:t>100%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84080" y="5093208"/>
            <a:ext cx="1691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9FB0C3"/>
                </a:solidFill>
                <a:latin typeface="Segoe UI"/>
              </a:rPr>
              <a:t>Read-only execution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02920"/>
            <a:ext cx="100584" cy="868680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DD4BF"/>
                </a:solidFill>
                <a:latin typeface="Segoe UI"/>
              </a:rP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1F5F9"/>
                </a:solidFill>
                <a:latin typeface="Segoe UI"/>
              </a:rPr>
              <a:t>The Problem &amp; Our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9FB0C3"/>
                </a:solidFill>
                <a:latin typeface="Segoe UI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9FB0C3"/>
                </a:solidFill>
                <a:latin typeface="Segoe UI"/>
              </a:rPr>
              <a:t>Text-to-SQL</a:t>
            </a:r>
            <a:r>
              <a:rPr sz="1000" b="0">
                <a:solidFill>
                  <a:srgbClr val="9FB0C3"/>
                </a:solidFill>
                <a:latin typeface="Segoe UI"/>
              </a:rPr>
              <a:t>  •  AI-Powered Query Engine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5120640" cy="4023360"/>
          </a:xfrm>
          <a:prstGeom prst="roundRect">
            <a:avLst>
              <a:gd name="adj" fmla="val 6000"/>
            </a:avLst>
          </a:prstGeom>
          <a:solidFill>
            <a:srgbClr val="16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1783080"/>
            <a:ext cx="5120640" cy="548640"/>
          </a:xfrm>
          <a:prstGeom prst="roundRect">
            <a:avLst>
              <a:gd name="adj" fmla="val 20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1F5F9"/>
                </a:solidFill>
                <a:latin typeface="Segoe UI"/>
              </a:rPr>
              <a:t>THE PROBLEM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5840" y="2660904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16736" y="2606040"/>
            <a:ext cx="435254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F1F5F9"/>
                </a:solidFill>
                <a:latin typeface="Segoe UI"/>
              </a:rPr>
              <a:t>SQL is a barrier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9FB0C3"/>
                </a:solidFill>
                <a:latin typeface="Segoe UI"/>
              </a:rPr>
              <a:t>Business users can't write queries themselves.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5840" y="3410712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6736" y="3355848"/>
            <a:ext cx="435254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F1F5F9"/>
                </a:solidFill>
                <a:latin typeface="Segoe UI"/>
              </a:rPr>
              <a:t>Schemas are complex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9FB0C3"/>
                </a:solidFill>
                <a:latin typeface="Segoe UI"/>
              </a:rPr>
              <a:t>Dozens of tables, keys and join paths to remember.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5840" y="4160520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16736" y="4105656"/>
            <a:ext cx="435254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F1F5F9"/>
                </a:solidFill>
                <a:latin typeface="Segoe UI"/>
              </a:rPr>
              <a:t>Slow feedback loop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9FB0C3"/>
                </a:solidFill>
                <a:latin typeface="Segoe UI"/>
              </a:rPr>
              <a:t>Every question needs an engineer in the loop.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5840" y="4910328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16736" y="4855464"/>
            <a:ext cx="435254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F1F5F9"/>
                </a:solidFill>
                <a:latin typeface="Segoe UI"/>
              </a:rPr>
              <a:t>Risky operations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9FB0C3"/>
                </a:solidFill>
                <a:latin typeface="Segoe UI"/>
              </a:rPr>
              <a:t>A wrong query can modify or delete data.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1783080"/>
            <a:ext cx="5074920" cy="4023360"/>
          </a:xfrm>
          <a:prstGeom prst="roundRect">
            <a:avLst>
              <a:gd name="adj" fmla="val 6000"/>
            </a:avLst>
          </a:prstGeom>
          <a:solidFill>
            <a:srgbClr val="16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09360" y="1783080"/>
            <a:ext cx="5074920" cy="548640"/>
          </a:xfrm>
          <a:prstGeom prst="roundRect">
            <a:avLst>
              <a:gd name="adj" fmla="val 20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1828800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0B1220"/>
                </a:solidFill>
                <a:latin typeface="Segoe UI"/>
              </a:rPr>
              <a:t>OUR SOLUTION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37960" y="2660904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48856" y="2606040"/>
            <a:ext cx="430682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F1F5F9"/>
                </a:solidFill>
                <a:latin typeface="Segoe UI"/>
              </a:rPr>
              <a:t>Ask in plain English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9FB0C3"/>
                </a:solidFill>
                <a:latin typeface="Segoe UI"/>
              </a:rPr>
              <a:t>Natural-language input, instant SQL + results.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37960" y="3410712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48856" y="3355848"/>
            <a:ext cx="430682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F1F5F9"/>
                </a:solidFill>
                <a:latin typeface="Segoe UI"/>
              </a:rPr>
              <a:t>AI finds the tables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9FB0C3"/>
                </a:solidFill>
                <a:latin typeface="Segoe UI"/>
              </a:rPr>
              <a:t>Semantic search retrieves only what's relevant.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37960" y="4160520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48856" y="4105656"/>
            <a:ext cx="430682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F1F5F9"/>
                </a:solidFill>
                <a:latin typeface="Segoe UI"/>
              </a:rPr>
              <a:t>Automatic, correct joins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9FB0C3"/>
                </a:solidFill>
                <a:latin typeface="Segoe UI"/>
              </a:rPr>
              <a:t>Join graph guides multi-table queries.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37960" y="4910328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48856" y="4855464"/>
            <a:ext cx="430682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F1F5F9"/>
                </a:solidFill>
                <a:latin typeface="Segoe UI"/>
              </a:rPr>
              <a:t>Guard-railed execution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9FB0C3"/>
                </a:solidFill>
                <a:latin typeface="Segoe UI"/>
              </a:rPr>
              <a:t>Dangerous operations detected and blocked.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02920"/>
            <a:ext cx="100584" cy="868680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DD4BF"/>
                </a:solidFill>
                <a:latin typeface="Segoe UI"/>
              </a:rPr>
              <a:t>CAPABILITIES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1F5F9"/>
                </a:solidFill>
                <a:latin typeface="Segoe UI"/>
              </a:rPr>
              <a:t>Key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9FB0C3"/>
                </a:solidFill>
                <a:latin typeface="Segoe UI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9FB0C3"/>
                </a:solidFill>
                <a:latin typeface="Segoe UI"/>
              </a:rPr>
              <a:t>Text-to-SQL</a:t>
            </a:r>
            <a:r>
              <a:rPr sz="1000" b="0">
                <a:solidFill>
                  <a:srgbClr val="9FB0C3"/>
                </a:solidFill>
                <a:latin typeface="Segoe UI"/>
              </a:rPr>
              <a:t>  •  AI-Powered Query Engine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5257800" cy="1024128"/>
          </a:xfrm>
          <a:prstGeom prst="roundRect">
            <a:avLst>
              <a:gd name="adj" fmla="val 10000"/>
            </a:avLst>
          </a:prstGeom>
          <a:solidFill>
            <a:srgbClr val="16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109728" cy="1024128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9384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1F5F9"/>
                </a:solidFill>
                <a:latin typeface="Segoe UI"/>
              </a:rPr>
              <a:t>Natural Language → SQL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295144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9FB0C3"/>
                </a:solidFill>
                <a:latin typeface="Segoe UI"/>
              </a:rPr>
              <a:t>Azure OpenAI GPT-4.1 writes valid PostgreSQL from a question.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783080"/>
            <a:ext cx="5257800" cy="1024128"/>
          </a:xfrm>
          <a:prstGeom prst="roundRect">
            <a:avLst>
              <a:gd name="adj" fmla="val 10000"/>
            </a:avLst>
          </a:prstGeom>
          <a:solidFill>
            <a:srgbClr val="16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1783080"/>
            <a:ext cx="109728" cy="1024128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1929384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1F5F9"/>
                </a:solidFill>
                <a:latin typeface="Segoe UI"/>
              </a:rPr>
              <a:t>Semantic Table Retrieval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2295144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9FB0C3"/>
                </a:solidFill>
                <a:latin typeface="Segoe UI"/>
              </a:rPr>
              <a:t>Embeddings + FAISS pick the top-k relevant tables.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916936"/>
            <a:ext cx="5257800" cy="1024128"/>
          </a:xfrm>
          <a:prstGeom prst="roundRect">
            <a:avLst>
              <a:gd name="adj" fmla="val 10000"/>
            </a:avLst>
          </a:prstGeom>
          <a:solidFill>
            <a:srgbClr val="16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2916936"/>
            <a:ext cx="109728" cy="102412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3063240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1F5F9"/>
                </a:solidFill>
                <a:latin typeface="Segoe UI"/>
              </a:rPr>
              <a:t>Join-Graph Reasoning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3429000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9FB0C3"/>
                </a:solidFill>
                <a:latin typeface="Segoe UI"/>
              </a:rPr>
              <a:t>Foreign-key graph builds correct multi-table joins.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2916936"/>
            <a:ext cx="5257800" cy="1024128"/>
          </a:xfrm>
          <a:prstGeom prst="roundRect">
            <a:avLst>
              <a:gd name="adj" fmla="val 10000"/>
            </a:avLst>
          </a:prstGeom>
          <a:solidFill>
            <a:srgbClr val="16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09360" y="2916936"/>
            <a:ext cx="109728" cy="1024128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29400" y="3063240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1F5F9"/>
                </a:solidFill>
                <a:latin typeface="Segoe UI"/>
              </a:rPr>
              <a:t>Danger Detection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3429000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9FB0C3"/>
                </a:solidFill>
                <a:latin typeface="Segoe UI"/>
              </a:rPr>
              <a:t>Blocks DELETE / DROP / UPDATE / INSERT before execution.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4050792"/>
            <a:ext cx="5257800" cy="1024128"/>
          </a:xfrm>
          <a:prstGeom prst="roundRect">
            <a:avLst>
              <a:gd name="adj" fmla="val 10000"/>
            </a:avLst>
          </a:prstGeom>
          <a:solidFill>
            <a:srgbClr val="16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4050792"/>
            <a:ext cx="109728" cy="102412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197096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1F5F9"/>
                </a:solidFill>
                <a:latin typeface="Segoe UI"/>
              </a:rPr>
              <a:t>CSV / Excel Upload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4562856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9FB0C3"/>
                </a:solidFill>
                <a:latin typeface="Segoe UI"/>
              </a:rPr>
              <a:t>Drop a file → instantly query it as a table.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09360" y="4050792"/>
            <a:ext cx="5257800" cy="1024128"/>
          </a:xfrm>
          <a:prstGeom prst="roundRect">
            <a:avLst>
              <a:gd name="adj" fmla="val 10000"/>
            </a:avLst>
          </a:prstGeom>
          <a:solidFill>
            <a:srgbClr val="16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09360" y="4050792"/>
            <a:ext cx="109728" cy="102412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29400" y="4197096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1F5F9"/>
                </a:solidFill>
                <a:latin typeface="Segoe UI"/>
              </a:rPr>
              <a:t>AI Result Summaries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4562856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9FB0C3"/>
                </a:solidFill>
                <a:latin typeface="Segoe UI"/>
              </a:rPr>
              <a:t>A second LLM call explains the results in plain words.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7240" y="5184648"/>
            <a:ext cx="5257800" cy="1024128"/>
          </a:xfrm>
          <a:prstGeom prst="roundRect">
            <a:avLst>
              <a:gd name="adj" fmla="val 10000"/>
            </a:avLst>
          </a:prstGeom>
          <a:solidFill>
            <a:srgbClr val="16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5184648"/>
            <a:ext cx="109728" cy="1024128"/>
          </a:xfrm>
          <a:prstGeom prst="rect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97280" y="5330952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1F5F9"/>
                </a:solidFill>
                <a:latin typeface="Segoe UI"/>
              </a:rPr>
              <a:t>Query Complexity Score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" y="5696712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9FB0C3"/>
                </a:solidFill>
                <a:latin typeface="Segoe UI"/>
              </a:rPr>
              <a:t>Rates each query Simple → Very Complex.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09360" y="5184648"/>
            <a:ext cx="5257800" cy="1024128"/>
          </a:xfrm>
          <a:prstGeom prst="roundRect">
            <a:avLst>
              <a:gd name="adj" fmla="val 10000"/>
            </a:avLst>
          </a:prstGeom>
          <a:solidFill>
            <a:srgbClr val="16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309360" y="5184648"/>
            <a:ext cx="109728" cy="1024128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29400" y="5330952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1F5F9"/>
                </a:solidFill>
                <a:latin typeface="Segoe UI"/>
              </a:rPr>
              <a:t>Multi-Database Support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5696712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9FB0C3"/>
                </a:solidFill>
                <a:latin typeface="Segoe UI"/>
              </a:rPr>
              <a:t>Browse schemas and switch databases on the fly.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02920"/>
            <a:ext cx="100584" cy="868680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DD4BF"/>
                </a:solidFill>
                <a:latin typeface="Segoe UI"/>
              </a:rPr>
              <a:t>UNDER THE HOOD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1F5F9"/>
                </a:solidFill>
                <a:latin typeface="Segoe UI"/>
              </a:rPr>
              <a:t>Technology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9FB0C3"/>
                </a:solidFill>
                <a:latin typeface="Segoe UI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9FB0C3"/>
                </a:solidFill>
                <a:latin typeface="Segoe UI"/>
              </a:rPr>
              <a:t>Text-to-SQL</a:t>
            </a:r>
            <a:r>
              <a:rPr sz="1000" b="0">
                <a:solidFill>
                  <a:srgbClr val="9FB0C3"/>
                </a:solidFill>
                <a:latin typeface="Segoe UI"/>
              </a:rPr>
              <a:t>  •  AI-Powered Query Engine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8299" y="1874519"/>
            <a:ext cx="2606040" cy="3977639"/>
          </a:xfrm>
          <a:prstGeom prst="roundRect">
            <a:avLst>
              <a:gd name="adj" fmla="val 5000"/>
            </a:avLst>
          </a:prstGeom>
          <a:solidFill>
            <a:srgbClr val="16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8299" y="1874519"/>
            <a:ext cx="2606040" cy="640080"/>
          </a:xfrm>
          <a:prstGeom prst="roundRect">
            <a:avLst>
              <a:gd name="adj" fmla="val 1200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8299" y="1874519"/>
            <a:ext cx="26060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B1220"/>
                </a:solidFill>
                <a:latin typeface="Segoe UI"/>
              </a:rPr>
              <a:t>FRONTEND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4331" y="2807207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3787" y="2743199"/>
            <a:ext cx="1965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F1F5F9"/>
                </a:solidFill>
                <a:latin typeface="Segoe UI"/>
              </a:rPr>
              <a:t>React 18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4331" y="3374135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3787" y="3310127"/>
            <a:ext cx="1965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F1F5F9"/>
                </a:solidFill>
                <a:latin typeface="Segoe UI"/>
              </a:rPr>
              <a:t>Create React App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4331" y="3941063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3787" y="3877055"/>
            <a:ext cx="1965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F1F5F9"/>
                </a:solidFill>
                <a:latin typeface="Segoe UI"/>
              </a:rPr>
              <a:t>Component-based UI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4331" y="45079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3787" y="4443983"/>
            <a:ext cx="1965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F1F5F9"/>
                </a:solidFill>
                <a:latin typeface="Segoe UI"/>
              </a:rPr>
              <a:t>Fetch API → REST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4331" y="5074919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3787" y="5010911"/>
            <a:ext cx="1965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F1F5F9"/>
                </a:solidFill>
                <a:latin typeface="Segoe UI"/>
              </a:rPr>
              <a:t>localStorage state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84651" y="1874519"/>
            <a:ext cx="2606040" cy="3977639"/>
          </a:xfrm>
          <a:prstGeom prst="roundRect">
            <a:avLst>
              <a:gd name="adj" fmla="val 5000"/>
            </a:avLst>
          </a:prstGeom>
          <a:solidFill>
            <a:srgbClr val="16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384651" y="1874519"/>
            <a:ext cx="2606040" cy="640080"/>
          </a:xfrm>
          <a:prstGeom prst="roundRect">
            <a:avLst>
              <a:gd name="adj" fmla="val 12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84651" y="1874519"/>
            <a:ext cx="26060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B1220"/>
                </a:solidFill>
                <a:latin typeface="Segoe UI"/>
              </a:rPr>
              <a:t>BACKEND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40683" y="2807207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60139" y="2743199"/>
            <a:ext cx="1965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F1F5F9"/>
                </a:solidFill>
                <a:latin typeface="Segoe UI"/>
              </a:rPr>
              <a:t>FastAPI + Uvicorn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40683" y="3374135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60139" y="3310127"/>
            <a:ext cx="1965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F1F5F9"/>
                </a:solidFill>
                <a:latin typeface="Segoe UI"/>
              </a:rPr>
              <a:t>SQLAlchemy (engine)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40683" y="3941063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60139" y="3877055"/>
            <a:ext cx="1965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F1F5F9"/>
                </a:solidFill>
                <a:latin typeface="Segoe UI"/>
              </a:rPr>
              <a:t>Pydantic models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640683" y="45079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860139" y="4443983"/>
            <a:ext cx="1965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F1F5F9"/>
                </a:solidFill>
                <a:latin typeface="Segoe UI"/>
              </a:rPr>
              <a:t>Async query pipeline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40683" y="5074919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60139" y="5010911"/>
            <a:ext cx="1965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F1F5F9"/>
                </a:solidFill>
                <a:latin typeface="Segoe UI"/>
              </a:rPr>
              <a:t>Layered architecture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01003" y="1874519"/>
            <a:ext cx="2606040" cy="3977639"/>
          </a:xfrm>
          <a:prstGeom prst="roundRect">
            <a:avLst>
              <a:gd name="adj" fmla="val 5000"/>
            </a:avLst>
          </a:prstGeom>
          <a:solidFill>
            <a:srgbClr val="16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201003" y="1874519"/>
            <a:ext cx="2606040" cy="640080"/>
          </a:xfrm>
          <a:prstGeom prst="roundRect">
            <a:avLst>
              <a:gd name="adj" fmla="val 12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01003" y="1874519"/>
            <a:ext cx="26060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B1220"/>
                </a:solidFill>
                <a:latin typeface="Segoe UI"/>
              </a:rPr>
              <a:t>AI / ML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57035" y="2807207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76491" y="2743199"/>
            <a:ext cx="1965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F1F5F9"/>
                </a:solidFill>
                <a:latin typeface="Segoe UI"/>
              </a:rPr>
              <a:t>Azure OpenAI GPT-4.1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57035" y="3374135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76491" y="3310127"/>
            <a:ext cx="1965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F1F5F9"/>
                </a:solidFill>
                <a:latin typeface="Segoe UI"/>
              </a:rPr>
              <a:t>text-embedding-3-small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457035" y="3941063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76491" y="3877055"/>
            <a:ext cx="1965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F1F5F9"/>
                </a:solidFill>
                <a:latin typeface="Segoe UI"/>
              </a:rPr>
              <a:t>LangChain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457035" y="45079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76491" y="4443983"/>
            <a:ext cx="1965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F1F5F9"/>
                </a:solidFill>
                <a:latin typeface="Segoe UI"/>
              </a:rPr>
              <a:t>FAISS vector store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457035" y="5074919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676491" y="5010911"/>
            <a:ext cx="1965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F1F5F9"/>
                </a:solidFill>
                <a:latin typeface="Segoe UI"/>
              </a:rPr>
              <a:t>RAG retrieval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017355" y="1874519"/>
            <a:ext cx="2606040" cy="3977639"/>
          </a:xfrm>
          <a:prstGeom prst="roundRect">
            <a:avLst>
              <a:gd name="adj" fmla="val 5000"/>
            </a:avLst>
          </a:prstGeom>
          <a:solidFill>
            <a:srgbClr val="16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9017355" y="1874519"/>
            <a:ext cx="2606040" cy="640080"/>
          </a:xfrm>
          <a:prstGeom prst="roundRect">
            <a:avLst>
              <a:gd name="adj" fmla="val 12000"/>
            </a:avLst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017355" y="1874519"/>
            <a:ext cx="26060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B1220"/>
                </a:solidFill>
                <a:latin typeface="Segoe UI"/>
              </a:rPr>
              <a:t>DATA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273387" y="2807207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492843" y="2743199"/>
            <a:ext cx="1965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F1F5F9"/>
                </a:solidFill>
                <a:latin typeface="Segoe UI"/>
              </a:rPr>
              <a:t>PostgreSQL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273387" y="3374135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492843" y="3310127"/>
            <a:ext cx="1965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F1F5F9"/>
                </a:solidFill>
                <a:latin typeface="Segoe UI"/>
              </a:rPr>
              <a:t>psycopg2 driver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273387" y="3941063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492843" y="3877055"/>
            <a:ext cx="1965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F1F5F9"/>
                </a:solidFill>
                <a:latin typeface="Segoe UI"/>
              </a:rPr>
              <a:t>pandas (file parse)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273387" y="45079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492843" y="4443983"/>
            <a:ext cx="1965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F1F5F9"/>
                </a:solidFill>
                <a:latin typeface="Segoe UI"/>
              </a:rPr>
              <a:t>Foreign-key graph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273387" y="5074919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492843" y="5010911"/>
            <a:ext cx="1965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F1F5F9"/>
                </a:solidFill>
                <a:latin typeface="Segoe UI"/>
              </a:rPr>
              <a:t>CSV / Excel ingest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02920"/>
            <a:ext cx="100584" cy="868680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DD4BF"/>
                </a:solidFill>
                <a:latin typeface="Segoe UI"/>
              </a:rPr>
              <a:t>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1F5F9"/>
                </a:solidFill>
                <a:latin typeface="Segoe UI"/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9FB0C3"/>
                </a:solidFill>
                <a:latin typeface="Segoe UI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9FB0C3"/>
                </a:solidFill>
                <a:latin typeface="Segoe UI"/>
              </a:rPr>
              <a:t>Text-to-SQL</a:t>
            </a:r>
            <a:r>
              <a:rPr sz="1000" b="0">
                <a:solidFill>
                  <a:srgbClr val="9FB0C3"/>
                </a:solidFill>
                <a:latin typeface="Segoe UI"/>
              </a:rPr>
              <a:t>  •  AI-Powered Query Engine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03120" y="1691640"/>
            <a:ext cx="7955279" cy="86868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905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103120" y="1691640"/>
            <a:ext cx="128016" cy="86868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95728" y="1801368"/>
            <a:ext cx="749807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1F5F9"/>
                </a:solidFill>
                <a:latin typeface="Segoe UI"/>
              </a:rPr>
              <a:t>React Frontend (port 3000)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5728" y="2167128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FB0C3"/>
                </a:solidFill>
                <a:latin typeface="Segoe UI"/>
              </a:rPr>
              <a:t>Query box · Schema browser · Data viewer · File upload · Results panel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5806440" y="2615184"/>
            <a:ext cx="548640" cy="384048"/>
          </a:xfrm>
          <a:prstGeom prst="downArrow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65176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9FB0C3"/>
                </a:solidFill>
                <a:latin typeface="Segoe UI"/>
              </a:rPr>
              <a:t>REST / JSON  (HTTP)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154680"/>
            <a:ext cx="7498079" cy="2514600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0F9C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2004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DD4BF"/>
                </a:solidFill>
                <a:latin typeface="Segoe UI"/>
              </a:rPr>
              <a:t>FastAPI Backend (port 8000)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15568" y="3657600"/>
            <a:ext cx="1691640" cy="1828800"/>
          </a:xfrm>
          <a:prstGeom prst="roundRect">
            <a:avLst>
              <a:gd name="adj" fmla="val 8000"/>
            </a:avLst>
          </a:prstGeom>
          <a:solidFill>
            <a:srgbClr val="1E2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15568" y="3657600"/>
            <a:ext cx="1691640" cy="9144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25296" y="3840480"/>
            <a:ext cx="14721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34D399"/>
                </a:solidFill>
                <a:latin typeface="Segoe UI"/>
              </a:rPr>
              <a:t>Routes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8" y="4343400"/>
            <a:ext cx="1508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FB0C3"/>
                </a:solidFill>
                <a:latin typeface="Segoe UI"/>
              </a:rPr>
              <a:t>query · upload
databases · metadata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16936" y="3657600"/>
            <a:ext cx="1691640" cy="1828800"/>
          </a:xfrm>
          <a:prstGeom prst="roundRect">
            <a:avLst>
              <a:gd name="adj" fmla="val 8000"/>
            </a:avLst>
          </a:prstGeom>
          <a:solidFill>
            <a:srgbClr val="1E2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916936" y="3657600"/>
            <a:ext cx="1691640" cy="9144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26664" y="3840480"/>
            <a:ext cx="14721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DD4BF"/>
                </a:solidFill>
                <a:latin typeface="Segoe UI"/>
              </a:rPr>
              <a:t>Query Pipeline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08376" y="4343400"/>
            <a:ext cx="1508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FB0C3"/>
                </a:solidFill>
                <a:latin typeface="Segoe UI"/>
              </a:rPr>
              <a:t>orchestrates the
5-step flow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18304" y="3657600"/>
            <a:ext cx="1691640" cy="1828800"/>
          </a:xfrm>
          <a:prstGeom prst="roundRect">
            <a:avLst>
              <a:gd name="adj" fmla="val 8000"/>
            </a:avLst>
          </a:prstGeom>
          <a:solidFill>
            <a:srgbClr val="1E2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718304" y="3657600"/>
            <a:ext cx="1691640" cy="91440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28032" y="3840480"/>
            <a:ext cx="14721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A78BFA"/>
                </a:solidFill>
                <a:latin typeface="Segoe UI"/>
              </a:rPr>
              <a:t>Core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09744" y="4343400"/>
            <a:ext cx="1508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FB0C3"/>
                </a:solidFill>
                <a:latin typeface="Segoe UI"/>
              </a:rPr>
              <a:t>embedder · SQL gen
executor · files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19672" y="3657600"/>
            <a:ext cx="1691640" cy="1828800"/>
          </a:xfrm>
          <a:prstGeom prst="roundRect">
            <a:avLst>
              <a:gd name="adj" fmla="val 8000"/>
            </a:avLst>
          </a:prstGeom>
          <a:solidFill>
            <a:srgbClr val="1E2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19672" y="3657600"/>
            <a:ext cx="1691640" cy="9144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29400" y="3840480"/>
            <a:ext cx="14721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BBF24"/>
                </a:solidFill>
                <a:latin typeface="Segoe UI"/>
              </a:rPr>
              <a:t>Utils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11112" y="4343400"/>
            <a:ext cx="1508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FB0C3"/>
                </a:solidFill>
                <a:latin typeface="Segoe UI"/>
              </a:rPr>
              <a:t>join graph · prompt
metadata · state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732520" y="3200400"/>
            <a:ext cx="2743200" cy="841248"/>
          </a:xfrm>
          <a:prstGeom prst="roundRect">
            <a:avLst>
              <a:gd name="adj" fmla="val 12000"/>
            </a:avLst>
          </a:prstGeom>
          <a:solidFill>
            <a:srgbClr val="162136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15400" y="3319272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A78BFA"/>
                </a:solidFill>
                <a:latin typeface="Segoe UI"/>
              </a:rPr>
              <a:t>Azure OpenAI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15400" y="3657600"/>
            <a:ext cx="2468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FB0C3"/>
                </a:solidFill>
                <a:latin typeface="Segoe UI"/>
              </a:rPr>
              <a:t>GPT-4.1 + embeddings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732520" y="4160520"/>
            <a:ext cx="2743200" cy="841248"/>
          </a:xfrm>
          <a:prstGeom prst="roundRect">
            <a:avLst>
              <a:gd name="adj" fmla="val 12000"/>
            </a:avLst>
          </a:prstGeom>
          <a:solidFill>
            <a:srgbClr val="162136"/>
          </a:solidFill>
          <a:ln w="15875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15400" y="4279392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BBF24"/>
                </a:solidFill>
                <a:latin typeface="Segoe UI"/>
              </a:rPr>
              <a:t>FAISS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15400" y="4617720"/>
            <a:ext cx="2468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FB0C3"/>
                </a:solidFill>
                <a:latin typeface="Segoe UI"/>
              </a:rPr>
              <a:t>vector similarity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732520" y="5120640"/>
            <a:ext cx="2743200" cy="841248"/>
          </a:xfrm>
          <a:prstGeom prst="roundRect">
            <a:avLst>
              <a:gd name="adj" fmla="val 12000"/>
            </a:avLst>
          </a:prstGeom>
          <a:solidFill>
            <a:srgbClr val="162136"/>
          </a:solidFill>
          <a:ln w="15875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15400" y="5239512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DD4BF"/>
                </a:solidFill>
                <a:latin typeface="Segoe UI"/>
              </a:rPr>
              <a:t>PostgreSQL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15400" y="5577840"/>
            <a:ext cx="2468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FB0C3"/>
                </a:solidFill>
                <a:latin typeface="Segoe UI"/>
              </a:rPr>
              <a:t>data + schema</a:t>
            </a:r>
          </a:p>
        </p:txBody>
      </p:sp>
      <p:sp>
        <p:nvSpPr>
          <p:cNvPr id="40" name="Left-Right Arrow 39"/>
          <p:cNvSpPr/>
          <p:nvPr/>
        </p:nvSpPr>
        <p:spPr>
          <a:xfrm>
            <a:off x="8412480" y="4206240"/>
            <a:ext cx="365760" cy="310896"/>
          </a:xfrm>
          <a:prstGeom prst="leftRightArrow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02920"/>
            <a:ext cx="100584" cy="868680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DD4BF"/>
                </a:solidFill>
                <a:latin typeface="Segoe UI"/>
              </a:rPr>
              <a:t>CORE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1F5F9"/>
                </a:solidFill>
                <a:latin typeface="Segoe UI"/>
              </a:rPr>
              <a:t>The Query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9FB0C3"/>
                </a:solidFill>
                <a:latin typeface="Segoe UI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9FB0C3"/>
                </a:solidFill>
                <a:latin typeface="Segoe UI"/>
              </a:rPr>
              <a:t>Text-to-SQL</a:t>
            </a:r>
            <a:r>
              <a:rPr sz="1000" b="0">
                <a:solidFill>
                  <a:srgbClr val="9FB0C3"/>
                </a:solidFill>
                <a:latin typeface="Segoe UI"/>
              </a:rPr>
              <a:t>  •  AI-Powered Query Engine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5544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9FB0C3"/>
                </a:solidFill>
                <a:latin typeface="Segoe UI"/>
              </a:rPr>
              <a:t>Every question travels through five orchestrated steps — from embedding to answer.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4314" y="2331720"/>
            <a:ext cx="2084831" cy="3017520"/>
          </a:xfrm>
          <a:prstGeom prst="roundRect">
            <a:avLst>
              <a:gd name="adj" fmla="val 7000"/>
            </a:avLst>
          </a:prstGeom>
          <a:solidFill>
            <a:srgbClr val="16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22681" y="2606040"/>
            <a:ext cx="768096" cy="768096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22681" y="260604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0B1220"/>
                </a:solidFill>
                <a:latin typeface="Segoe U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4042" y="3566160"/>
            <a:ext cx="186537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1F5F9"/>
                </a:solidFill>
                <a:latin typeface="Segoe UI"/>
              </a:rPr>
              <a:t>Embed &amp; Retrieve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906" y="4160520"/>
            <a:ext cx="1755647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FB0C3"/>
                </a:solidFill>
                <a:latin typeface="Segoe UI"/>
              </a:rPr>
              <a:t>Embed the question and run FAISS semantic search to find the top relevant tables.</a:t>
            </a:r>
          </a:p>
        </p:txBody>
      </p:sp>
      <p:sp>
        <p:nvSpPr>
          <p:cNvPr id="13" name="Chevron 12"/>
          <p:cNvSpPr/>
          <p:nvPr/>
        </p:nvSpPr>
        <p:spPr>
          <a:xfrm>
            <a:off x="2730857" y="3675888"/>
            <a:ext cx="201168" cy="329184"/>
          </a:xfrm>
          <a:prstGeom prst="chevron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858873" y="2331720"/>
            <a:ext cx="2084831" cy="3017520"/>
          </a:xfrm>
          <a:prstGeom prst="roundRect">
            <a:avLst>
              <a:gd name="adj" fmla="val 7000"/>
            </a:avLst>
          </a:prstGeom>
          <a:solidFill>
            <a:srgbClr val="16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17240" y="2606040"/>
            <a:ext cx="768096" cy="768096"/>
          </a:xfrm>
          <a:prstGeom prst="ellipse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17240" y="260604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0B1220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68601" y="3566160"/>
            <a:ext cx="186537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1F5F9"/>
                </a:solidFill>
                <a:latin typeface="Segoe UI"/>
              </a:rPr>
              <a:t>Gather Context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23465" y="4160520"/>
            <a:ext cx="1755647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FB0C3"/>
                </a:solidFill>
                <a:latin typeface="Segoe UI"/>
              </a:rPr>
              <a:t>Collect metadata for those tables plus any uploaded tables.</a:t>
            </a:r>
          </a:p>
        </p:txBody>
      </p:sp>
      <p:sp>
        <p:nvSpPr>
          <p:cNvPr id="19" name="Chevron 18"/>
          <p:cNvSpPr/>
          <p:nvPr/>
        </p:nvSpPr>
        <p:spPr>
          <a:xfrm>
            <a:off x="4925416" y="3675888"/>
            <a:ext cx="201168" cy="329184"/>
          </a:xfrm>
          <a:prstGeom prst="chevron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53432" y="2331720"/>
            <a:ext cx="2084831" cy="3017520"/>
          </a:xfrm>
          <a:prstGeom prst="roundRect">
            <a:avLst>
              <a:gd name="adj" fmla="val 7000"/>
            </a:avLst>
          </a:prstGeom>
          <a:solidFill>
            <a:srgbClr val="16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1799" y="2606040"/>
            <a:ext cx="768096" cy="768096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1799" y="260604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0B1220"/>
                </a:solidFill>
                <a:latin typeface="Segoe U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63160" y="3566160"/>
            <a:ext cx="186537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1F5F9"/>
                </a:solidFill>
                <a:latin typeface="Segoe UI"/>
              </a:rPr>
              <a:t>Load Join Graph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8024" y="4160520"/>
            <a:ext cx="1755647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FB0C3"/>
                </a:solidFill>
                <a:latin typeface="Segoe UI"/>
              </a:rPr>
              <a:t>Pull the database's foreign-key join graph for correct joins.</a:t>
            </a:r>
          </a:p>
        </p:txBody>
      </p:sp>
      <p:sp>
        <p:nvSpPr>
          <p:cNvPr id="25" name="Chevron 24"/>
          <p:cNvSpPr/>
          <p:nvPr/>
        </p:nvSpPr>
        <p:spPr>
          <a:xfrm>
            <a:off x="7119975" y="3675888"/>
            <a:ext cx="201168" cy="329184"/>
          </a:xfrm>
          <a:prstGeom prst="chevron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247991" y="2331720"/>
            <a:ext cx="2084831" cy="3017520"/>
          </a:xfrm>
          <a:prstGeom prst="roundRect">
            <a:avLst>
              <a:gd name="adj" fmla="val 7000"/>
            </a:avLst>
          </a:prstGeom>
          <a:solidFill>
            <a:srgbClr val="16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6358" y="2606040"/>
            <a:ext cx="768096" cy="768096"/>
          </a:xfrm>
          <a:prstGeom prst="ellipse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6358" y="260604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0B1220"/>
                </a:solidFill>
                <a:latin typeface="Segoe U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57719" y="3566160"/>
            <a:ext cx="186537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1F5F9"/>
                </a:solidFill>
                <a:latin typeface="Segoe UI"/>
              </a:rPr>
              <a:t>Generate SQL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12583" y="4160520"/>
            <a:ext cx="1755647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FB0C3"/>
                </a:solidFill>
                <a:latin typeface="Segoe UI"/>
              </a:rPr>
              <a:t>GPT-4.1 writes the SQL and flags dangerous operations in one call.</a:t>
            </a:r>
          </a:p>
        </p:txBody>
      </p:sp>
      <p:sp>
        <p:nvSpPr>
          <p:cNvPr id="31" name="Chevron 30"/>
          <p:cNvSpPr/>
          <p:nvPr/>
        </p:nvSpPr>
        <p:spPr>
          <a:xfrm>
            <a:off x="9314534" y="3675888"/>
            <a:ext cx="201168" cy="329184"/>
          </a:xfrm>
          <a:prstGeom prst="chevron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442550" y="2331720"/>
            <a:ext cx="2084831" cy="3017520"/>
          </a:xfrm>
          <a:prstGeom prst="roundRect">
            <a:avLst>
              <a:gd name="adj" fmla="val 7000"/>
            </a:avLst>
          </a:prstGeom>
          <a:solidFill>
            <a:srgbClr val="16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100917" y="2606040"/>
            <a:ext cx="768096" cy="768096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00917" y="260604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0B1220"/>
                </a:solidFill>
                <a:latin typeface="Segoe UI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2278" y="3566160"/>
            <a:ext cx="186537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1F5F9"/>
                </a:solidFill>
                <a:latin typeface="Segoe UI"/>
              </a:rPr>
              <a:t>Validate &amp; Execute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7142" y="4160520"/>
            <a:ext cx="1755647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FB0C3"/>
                </a:solidFill>
                <a:latin typeface="Segoe UI"/>
              </a:rPr>
              <a:t>Validate, run read-only against PostgreSQL, then AI-summarize the rows.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02920"/>
            <a:ext cx="100584" cy="868680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DD4BF"/>
                </a:solidFill>
                <a:latin typeface="Segoe UI"/>
              </a:rPr>
              <a:t>AI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1F5F9"/>
                </a:solidFill>
                <a:latin typeface="Segoe UI"/>
              </a:rPr>
              <a:t>Semantic Table Retrieval (RAG)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9FB0C3"/>
                </a:solidFill>
                <a:latin typeface="Segoe UI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9FB0C3"/>
                </a:solidFill>
                <a:latin typeface="Segoe UI"/>
              </a:rPr>
              <a:t>Text-to-SQL</a:t>
            </a:r>
            <a:r>
              <a:rPr sz="1000" b="0">
                <a:solidFill>
                  <a:srgbClr val="9FB0C3"/>
                </a:solidFill>
                <a:latin typeface="Segoe UI"/>
              </a:rPr>
              <a:t>  •  AI-Powered Query Engine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9FB0C3"/>
                </a:solidFill>
                <a:latin typeface="Segoe UI"/>
              </a:rPr>
              <a:t>Instead of dumping the whole schema into the prompt, we retrieve only the tables that matter — faster, cheaper and more accurate.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6587" y="2514600"/>
            <a:ext cx="2377440" cy="1371600"/>
          </a:xfrm>
          <a:prstGeom prst="roundRect">
            <a:avLst>
              <a:gd name="adj" fmla="val 10000"/>
            </a:avLst>
          </a:prstGeom>
          <a:solidFill>
            <a:srgbClr val="162136"/>
          </a:solidFill>
          <a:ln w="15875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6587" y="278892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1F5F9"/>
                </a:solidFill>
                <a:latin typeface="Segoe UI"/>
              </a:rPr>
              <a:t>Question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6587" y="329184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38BDF8"/>
                </a:solidFill>
                <a:latin typeface="Segoe UI"/>
              </a:rPr>
              <a:t>Free-text query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028035" y="3063240"/>
            <a:ext cx="365760" cy="274320"/>
          </a:xfrm>
          <a:prstGeom prst="rightArrow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466947" y="2514600"/>
            <a:ext cx="2377440" cy="1371600"/>
          </a:xfrm>
          <a:prstGeom prst="roundRect">
            <a:avLst>
              <a:gd name="adj" fmla="val 10000"/>
            </a:avLst>
          </a:prstGeom>
          <a:solidFill>
            <a:srgbClr val="162136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66947" y="278892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1F5F9"/>
                </a:solidFill>
                <a:latin typeface="Segoe UI"/>
              </a:rPr>
              <a:t>Embedding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66947" y="329184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A78BFA"/>
                </a:solidFill>
                <a:latin typeface="Segoe UI"/>
              </a:rPr>
              <a:t>text-embedding-3-small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08395" y="3063240"/>
            <a:ext cx="365760" cy="274320"/>
          </a:xfrm>
          <a:prstGeom prst="rightArrow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347307" y="2514600"/>
            <a:ext cx="2377440" cy="1371600"/>
          </a:xfrm>
          <a:prstGeom prst="roundRect">
            <a:avLst>
              <a:gd name="adj" fmla="val 10000"/>
            </a:avLst>
          </a:prstGeom>
          <a:solidFill>
            <a:srgbClr val="162136"/>
          </a:solidFill>
          <a:ln w="15875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47307" y="278892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1F5F9"/>
                </a:solidFill>
                <a:latin typeface="Segoe UI"/>
              </a:rPr>
              <a:t>FAISS Search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47307" y="329184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BBF24"/>
                </a:solidFill>
                <a:latin typeface="Segoe UI"/>
              </a:rPr>
              <a:t>IndexFlatL2 · top-k=5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788755" y="3063240"/>
            <a:ext cx="365760" cy="274320"/>
          </a:xfrm>
          <a:prstGeom prst="rightArrow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227667" y="2514600"/>
            <a:ext cx="2377440" cy="1371600"/>
          </a:xfrm>
          <a:prstGeom prst="roundRect">
            <a:avLst>
              <a:gd name="adj" fmla="val 10000"/>
            </a:avLst>
          </a:prstGeom>
          <a:solidFill>
            <a:srgbClr val="162136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27667" y="278892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1F5F9"/>
                </a:solidFill>
                <a:latin typeface="Segoe UI"/>
              </a:rPr>
              <a:t>Relevant Tables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27667" y="329184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34D399"/>
                </a:solidFill>
                <a:latin typeface="Segoe UI"/>
              </a:rPr>
              <a:t>L2 distance ≤ 2.5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4434840"/>
            <a:ext cx="3456432" cy="137160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4434840"/>
            <a:ext cx="3456432" cy="9144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4617720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2DD4BF"/>
                </a:solidFill>
                <a:latin typeface="Segoe UI"/>
              </a:rPr>
              <a:t>Startup embedding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029200"/>
            <a:ext cx="299923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FB0C3"/>
                </a:solidFill>
                <a:latin typeface="Segoe UI"/>
              </a:rPr>
              <a:t>All tables embedded concurrently on boot (bounded by a semaphore).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16552" y="4434840"/>
            <a:ext cx="3456432" cy="137160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16552" y="4434840"/>
            <a:ext cx="3456432" cy="9144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45152" y="4617720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BBF24"/>
                </a:solidFill>
                <a:latin typeface="Segoe UI"/>
              </a:rPr>
              <a:t>On disk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45152" y="5029200"/>
            <a:ext cx="299923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FB0C3"/>
                </a:solidFill>
                <a:latin typeface="Segoe UI"/>
              </a:rPr>
              <a:t>Indices saved as *_index.faiss with *_metadata.json companions.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55864" y="4434840"/>
            <a:ext cx="3456432" cy="137160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55864" y="4434840"/>
            <a:ext cx="3456432" cy="91440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84464" y="4617720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A78BFA"/>
                </a:solidFill>
                <a:latin typeface="Segoe UI"/>
              </a:rPr>
              <a:t>Async &amp; parallel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84464" y="5029200"/>
            <a:ext cx="299923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FB0C3"/>
                </a:solidFill>
                <a:latin typeface="Segoe UI"/>
              </a:rPr>
              <a:t>Async Azure client embeds many tables at once for speed.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02920"/>
            <a:ext cx="100584" cy="868680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DD4BF"/>
                </a:solidFill>
                <a:latin typeface="Segoe UI"/>
              </a:rPr>
              <a:t>AI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1F5F9"/>
                </a:solidFill>
                <a:latin typeface="Segoe UI"/>
              </a:rPr>
              <a:t>SQL Generation &amp; Safety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9FB0C3"/>
                </a:solidFill>
                <a:latin typeface="Segoe UI"/>
              </a:rPr>
              <a:t>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9FB0C3"/>
                </a:solidFill>
                <a:latin typeface="Segoe UI"/>
              </a:rPr>
              <a:t>Text-to-SQL</a:t>
            </a:r>
            <a:r>
              <a:rPr sz="1000" b="0">
                <a:solidFill>
                  <a:srgbClr val="9FB0C3"/>
                </a:solidFill>
                <a:latin typeface="Segoe UI"/>
              </a:rPr>
              <a:t>  •  AI-Powered Query Engine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459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DD4BF"/>
                </a:solidFill>
                <a:latin typeface="Segoe UI"/>
              </a:rPr>
              <a:t>What goes into the prompt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295144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88136" y="2240280"/>
            <a:ext cx="517550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1F5F9"/>
                </a:solidFill>
                <a:latin typeface="Segoe UI"/>
              </a:rPr>
              <a:t>Question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9FB0C3"/>
                </a:solidFill>
                <a:latin typeface="Segoe UI"/>
              </a:rPr>
              <a:t>The user's natural-language request.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072384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8136" y="3017520"/>
            <a:ext cx="517550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1F5F9"/>
                </a:solidFill>
                <a:latin typeface="Segoe UI"/>
              </a:rPr>
              <a:t>Table schemas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9FB0C3"/>
                </a:solidFill>
                <a:latin typeface="Segoe UI"/>
              </a:rPr>
              <a:t>Columns, types, nullability, primary keys.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849624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3794760"/>
            <a:ext cx="517550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1F5F9"/>
                </a:solidFill>
                <a:latin typeface="Segoe UI"/>
              </a:rPr>
              <a:t>Join paths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9FB0C3"/>
                </a:solidFill>
                <a:latin typeface="Segoe UI"/>
              </a:rPr>
              <a:t>Foreign-key relationships between tables.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626864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88136" y="4572000"/>
            <a:ext cx="517550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1F5F9"/>
                </a:solidFill>
                <a:latin typeface="Segoe UI"/>
              </a:rPr>
              <a:t>Rules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9FB0C3"/>
                </a:solidFill>
                <a:latin typeface="Segoe UI"/>
              </a:rPr>
              <a:t>SELECT-only, pick specific columns, 2-dp numerics.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0" y="1691640"/>
            <a:ext cx="4846320" cy="4114800"/>
          </a:xfrm>
          <a:prstGeom prst="roundRect">
            <a:avLst>
              <a:gd name="adj" fmla="val 6000"/>
            </a:avLst>
          </a:prstGeom>
          <a:solidFill>
            <a:srgbClr val="16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583680" y="1691640"/>
            <a:ext cx="4846320" cy="566928"/>
          </a:xfrm>
          <a:prstGeom prst="roundRect">
            <a:avLst>
              <a:gd name="adj" fmla="val 20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1691640"/>
            <a:ext cx="4846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1F5F9"/>
                </a:solidFill>
                <a:latin typeface="Segoe UI"/>
              </a:rPr>
              <a:t>⚠  SAFETY GUARDRAILS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12280" y="2569464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23176" y="2514600"/>
            <a:ext cx="412394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1F5F9"/>
                </a:solidFill>
                <a:latin typeface="Segoe UI"/>
              </a:rPr>
              <a:t>Single-call danger check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9FB0C3"/>
                </a:solidFill>
                <a:latin typeface="Segoe UI"/>
              </a:rPr>
              <a:t>LLM returns DANGEROUS / REASON / SQL together.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12280" y="3346704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23176" y="3291840"/>
            <a:ext cx="412394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1F5F9"/>
                </a:solidFill>
                <a:latin typeface="Segoe UI"/>
              </a:rPr>
              <a:t>Blocked, not run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9FB0C3"/>
                </a:solidFill>
                <a:latin typeface="Segoe UI"/>
              </a:rPr>
              <a:t>DELETE, DROP, UPDATE, INSERT are shown but never executed.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12280" y="4123944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23176" y="4069080"/>
            <a:ext cx="412394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1F5F9"/>
                </a:solidFill>
                <a:latin typeface="Segoe UI"/>
              </a:rPr>
              <a:t>Query validation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9FB0C3"/>
                </a:solidFill>
                <a:latin typeface="Segoe UI"/>
              </a:rPr>
              <a:t>Syntax checked before it reaches the database.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12280" y="4901184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23176" y="4846320"/>
            <a:ext cx="412394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1F5F9"/>
                </a:solidFill>
                <a:latin typeface="Segoe UI"/>
              </a:rPr>
              <a:t>Read-only + LIMIT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9FB0C3"/>
                </a:solidFill>
                <a:latin typeface="Segoe UI"/>
              </a:rPr>
              <a:t>Auto-applies a row LIMIT; results capped for safety.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02920"/>
            <a:ext cx="100584" cy="868680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DD4BF"/>
                </a:solidFill>
                <a:latin typeface="Segoe UI"/>
              </a:rPr>
              <a:t>AI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1F5F9"/>
                </a:solidFill>
                <a:latin typeface="Segoe UI"/>
              </a:rPr>
              <a:t>Join-Graph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9FB0C3"/>
                </a:solidFill>
                <a:latin typeface="Segoe U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9FB0C3"/>
                </a:solidFill>
                <a:latin typeface="Segoe UI"/>
              </a:rPr>
              <a:t>Text-to-SQL</a:t>
            </a:r>
            <a:r>
              <a:rPr sz="1000" b="0">
                <a:solidFill>
                  <a:srgbClr val="9FB0C3"/>
                </a:solidFill>
                <a:latin typeface="Segoe UI"/>
              </a:rPr>
              <a:t>  •  AI-Powered Query Engine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10332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9FB0C3"/>
                </a:solidFill>
                <a:latin typeface="Segoe UI"/>
              </a:rPr>
              <a:t>At startup the backend inspects every table's foreign keys and builds an adjacency list of joins per database — so multi-table questions are answered correctly.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2743200"/>
            <a:ext cx="2011680" cy="914400"/>
          </a:xfrm>
          <a:prstGeom prst="roundRect">
            <a:avLst>
              <a:gd name="adj" fmla="val 10000"/>
            </a:avLst>
          </a:prstGeom>
          <a:solidFill>
            <a:srgbClr val="162136"/>
          </a:solidFill>
          <a:ln w="1905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97280" y="2743200"/>
            <a:ext cx="2011680" cy="310896"/>
          </a:xfrm>
          <a:prstGeom prst="roundRect">
            <a:avLst>
              <a:gd name="adj" fmla="val 2000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743200"/>
            <a:ext cx="20116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0B1220"/>
                </a:solidFill>
                <a:latin typeface="Segoe UI"/>
              </a:rPr>
              <a:t>customers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0" y="2331720"/>
            <a:ext cx="2011680" cy="914400"/>
          </a:xfrm>
          <a:prstGeom prst="roundRect">
            <a:avLst>
              <a:gd name="adj" fmla="val 10000"/>
            </a:avLst>
          </a:prstGeom>
          <a:solidFill>
            <a:srgbClr val="162136"/>
          </a:solidFill>
          <a:ln w="1905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029200" y="2331720"/>
            <a:ext cx="2011680" cy="310896"/>
          </a:xfrm>
          <a:prstGeom prst="roundRect">
            <a:avLst>
              <a:gd name="adj" fmla="val 2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0" y="2331720"/>
            <a:ext cx="20116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0B1220"/>
                </a:solidFill>
                <a:latin typeface="Segoe UI"/>
              </a:rPr>
              <a:t>orders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3566160"/>
            <a:ext cx="2011680" cy="914400"/>
          </a:xfrm>
          <a:prstGeom prst="roundRect">
            <a:avLst>
              <a:gd name="adj" fmla="val 10000"/>
            </a:avLst>
          </a:prstGeom>
          <a:solidFill>
            <a:srgbClr val="162136"/>
          </a:solidFill>
          <a:ln w="1905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029200" y="3566160"/>
            <a:ext cx="2011680" cy="310896"/>
          </a:xfrm>
          <a:prstGeom prst="roundRect">
            <a:avLst>
              <a:gd name="adj" fmla="val 20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0" y="3566160"/>
            <a:ext cx="20116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0B1220"/>
                </a:solidFill>
                <a:latin typeface="Segoe UI"/>
              </a:rPr>
              <a:t>products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1120" y="2743200"/>
            <a:ext cx="2011680" cy="914400"/>
          </a:xfrm>
          <a:prstGeom prst="roundRect">
            <a:avLst>
              <a:gd name="adj" fmla="val 10000"/>
            </a:avLst>
          </a:prstGeom>
          <a:solidFill>
            <a:srgbClr val="162136"/>
          </a:solidFill>
          <a:ln w="1905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961120" y="2743200"/>
            <a:ext cx="2011680" cy="310896"/>
          </a:xfrm>
          <a:prstGeom prst="roundRect">
            <a:avLst>
              <a:gd name="adj" fmla="val 20000"/>
            </a:avLst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0" y="2743200"/>
            <a:ext cx="20116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0B1220"/>
                </a:solidFill>
                <a:latin typeface="Segoe UI"/>
              </a:rPr>
              <a:t>order_items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108960" y="3200400"/>
            <a:ext cx="1920240" cy="36576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040880" y="2788920"/>
            <a:ext cx="1920240" cy="36576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08960" y="2880360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9FB0C3"/>
                </a:solidFill>
                <a:latin typeface="Segoe UI"/>
              </a:rPr>
              <a:t>customer_id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2468880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9FB0C3"/>
                </a:solidFill>
                <a:latin typeface="Segoe UI"/>
              </a:rPr>
              <a:t>order_id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4480560"/>
            <a:ext cx="3456432" cy="137160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77240" y="4480560"/>
            <a:ext cx="3456432" cy="9144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4663440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DD4BF"/>
                </a:solidFill>
                <a:latin typeface="Segoe UI"/>
              </a:rPr>
              <a:t>Built once at boot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5047488"/>
            <a:ext cx="299923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FB0C3"/>
                </a:solidFill>
                <a:latin typeface="Segoe UI"/>
              </a:rPr>
              <a:t>SQLAlchemy inspector reads FK constraints for all databases.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416552" y="4480560"/>
            <a:ext cx="3456432" cy="137160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416552" y="4480560"/>
            <a:ext cx="3456432" cy="91440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45152" y="4663440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A78BFA"/>
                </a:solidFill>
                <a:latin typeface="Segoe UI"/>
              </a:rPr>
              <a:t>Filtered per query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45152" y="5047488"/>
            <a:ext cx="299923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FB0C3"/>
                </a:solidFill>
                <a:latin typeface="Segoe UI"/>
              </a:rPr>
              <a:t>Only joins linking the retrieved tables enter the prompt.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55864" y="4480560"/>
            <a:ext cx="3456432" cy="137160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55864" y="4480560"/>
            <a:ext cx="3456432" cy="9144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84464" y="4663440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BBF24"/>
                </a:solidFill>
                <a:latin typeface="Segoe UI"/>
              </a:rPr>
              <a:t>Path extraction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84464" y="5047488"/>
            <a:ext cx="299923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FB0C3"/>
                </a:solidFill>
                <a:latin typeface="Segoe UI"/>
              </a:rPr>
              <a:t>The actual join path used is parsed back from the final SQL.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02920"/>
            <a:ext cx="100584" cy="868680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DD4BF"/>
                </a:solidFill>
                <a:latin typeface="Segoe UI"/>
              </a:rPr>
              <a:t>FEATURE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1F5F9"/>
                </a:solidFill>
                <a:latin typeface="Segoe UI"/>
              </a:rPr>
              <a:t>Upload &amp; Query Your Own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9FB0C3"/>
                </a:solidFill>
                <a:latin typeface="Segoe U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9FB0C3"/>
                </a:solidFill>
                <a:latin typeface="Segoe UI"/>
              </a:rPr>
              <a:t>Text-to-SQL</a:t>
            </a:r>
            <a:r>
              <a:rPr sz="1000" b="0">
                <a:solidFill>
                  <a:srgbClr val="9FB0C3"/>
                </a:solidFill>
                <a:latin typeface="Segoe UI"/>
              </a:rPr>
              <a:t>  •  AI-Powered Query Engine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4592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9FB0C3"/>
                </a:solidFill>
                <a:latin typeface="Segoe UI"/>
              </a:rPr>
              <a:t>Bring a CSV or Excel file and query it immediately alongside the database tables.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6587" y="2468880"/>
            <a:ext cx="2377440" cy="1417320"/>
          </a:xfrm>
          <a:prstGeom prst="roundRect">
            <a:avLst>
              <a:gd name="adj" fmla="val 10000"/>
            </a:avLst>
          </a:prstGeom>
          <a:solidFill>
            <a:srgbClr val="162136"/>
          </a:solidFill>
          <a:ln w="15875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6587" y="2761488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1F5F9"/>
                </a:solidFill>
                <a:latin typeface="Segoe UI"/>
              </a:rPr>
              <a:t>Upload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6587" y="329184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38BDF8"/>
                </a:solidFill>
                <a:latin typeface="Segoe UI"/>
              </a:rPr>
              <a:t>CSV / Excel via the UI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028035" y="3035808"/>
            <a:ext cx="365760" cy="274320"/>
          </a:xfrm>
          <a:prstGeom prst="rightArrow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466947" y="2468880"/>
            <a:ext cx="2377440" cy="1417320"/>
          </a:xfrm>
          <a:prstGeom prst="roundRect">
            <a:avLst>
              <a:gd name="adj" fmla="val 10000"/>
            </a:avLst>
          </a:prstGeom>
          <a:solidFill>
            <a:srgbClr val="162136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66947" y="2761488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1F5F9"/>
                </a:solidFill>
                <a:latin typeface="Segoe UI"/>
              </a:rPr>
              <a:t>Parse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66947" y="329184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A78BFA"/>
                </a:solidFill>
                <a:latin typeface="Segoe UI"/>
              </a:rPr>
              <a:t>pandas reads the file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08395" y="3035808"/>
            <a:ext cx="365760" cy="274320"/>
          </a:xfrm>
          <a:prstGeom prst="rightArrow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347307" y="2468880"/>
            <a:ext cx="2377440" cy="1417320"/>
          </a:xfrm>
          <a:prstGeom prst="roundRect">
            <a:avLst>
              <a:gd name="adj" fmla="val 10000"/>
            </a:avLst>
          </a:prstGeom>
          <a:solidFill>
            <a:srgbClr val="162136"/>
          </a:solidFill>
          <a:ln w="15875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47307" y="2761488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1F5F9"/>
                </a:solidFill>
                <a:latin typeface="Segoe UI"/>
              </a:rPr>
              <a:t>Create table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47307" y="329184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BBF24"/>
                </a:solidFill>
                <a:latin typeface="Segoe UI"/>
              </a:rPr>
              <a:t>Temp table in PostgreSQL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788755" y="3035808"/>
            <a:ext cx="365760" cy="274320"/>
          </a:xfrm>
          <a:prstGeom prst="rightArrow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227667" y="2468880"/>
            <a:ext cx="2377440" cy="1417320"/>
          </a:xfrm>
          <a:prstGeom prst="roundRect">
            <a:avLst>
              <a:gd name="adj" fmla="val 10000"/>
            </a:avLst>
          </a:prstGeom>
          <a:solidFill>
            <a:srgbClr val="162136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27667" y="2761488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1F5F9"/>
                </a:solidFill>
                <a:latin typeface="Segoe UI"/>
              </a:rPr>
              <a:t>Query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27667" y="329184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34D399"/>
                </a:solidFill>
                <a:latin typeface="Segoe UI"/>
              </a:rPr>
              <a:t>Always in LLM context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4434840"/>
            <a:ext cx="3456432" cy="137160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4434840"/>
            <a:ext cx="3456432" cy="9144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4617720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DD4BF"/>
                </a:solidFill>
                <a:latin typeface="Segoe UI"/>
              </a:rPr>
              <a:t>Clean &amp; safe naming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010912"/>
            <a:ext cx="299923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FB0C3"/>
                </a:solidFill>
                <a:latin typeface="Segoe UI"/>
              </a:rPr>
              <a:t>Columns normalized; tables prefixed uploaded__ with a UUID.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16552" y="4434840"/>
            <a:ext cx="3456432" cy="137160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16552" y="4434840"/>
            <a:ext cx="3456432" cy="9144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45152" y="4617720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BBF24"/>
                </a:solidFill>
                <a:latin typeface="Segoe UI"/>
              </a:rPr>
              <a:t>Auto-cleanup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45152" y="5010912"/>
            <a:ext cx="299923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FB0C3"/>
                </a:solidFill>
                <a:latin typeface="Segoe UI"/>
              </a:rPr>
              <a:t>Leftover uploaded tables are removed on each restart.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55864" y="4434840"/>
            <a:ext cx="3456432" cy="137160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55864" y="4434840"/>
            <a:ext cx="3456432" cy="91440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84464" y="4617720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A78BFA"/>
                </a:solidFill>
                <a:latin typeface="Segoe UI"/>
              </a:rPr>
              <a:t>Shown under its DB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84464" y="5010912"/>
            <a:ext cx="299923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FB0C3"/>
                </a:solidFill>
                <a:latin typeface="Segoe UI"/>
              </a:rPr>
              <a:t>Uploaded files appear with a 📤 icon under their database.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02920"/>
            <a:ext cx="100584" cy="868680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DD4BF"/>
                </a:solidFill>
                <a:latin typeface="Segoe UI"/>
              </a:rPr>
              <a:t>CODE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1F5F9"/>
                </a:solidFill>
                <a:latin typeface="Segoe UI"/>
              </a:rPr>
              <a:t>Backend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9FB0C3"/>
                </a:solidFill>
                <a:latin typeface="Segoe U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9FB0C3"/>
                </a:solidFill>
                <a:latin typeface="Segoe UI"/>
              </a:rPr>
              <a:t>Text-to-SQL</a:t>
            </a:r>
            <a:r>
              <a:rPr sz="1000" b="0">
                <a:solidFill>
                  <a:srgbClr val="9FB0C3"/>
                </a:solidFill>
                <a:latin typeface="Segoe UI"/>
              </a:rPr>
              <a:t>  •  AI-Powered Query Engine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9FB0C3"/>
                </a:solidFill>
                <a:latin typeface="Segoe UI"/>
              </a:rPr>
              <a:t>A clean, layered FastAPI codebase — thin routes delegate to a service pipeline.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194560"/>
            <a:ext cx="5257800" cy="1078992"/>
          </a:xfrm>
          <a:prstGeom prst="roundRect">
            <a:avLst>
              <a:gd name="adj" fmla="val 9000"/>
            </a:avLst>
          </a:prstGeom>
          <a:solidFill>
            <a:srgbClr val="16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194560"/>
            <a:ext cx="109728" cy="1078992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359152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34D399"/>
                </a:solidFill>
                <a:latin typeface="Consolas"/>
              </a:rPr>
              <a:t>routes/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74320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FB0C3"/>
                </a:solidFill>
                <a:latin typeface="Segoe UI"/>
              </a:rPr>
              <a:t>HTTP endpoints — query, upload, databases, metadata, join_graphs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2194560"/>
            <a:ext cx="5257800" cy="1078992"/>
          </a:xfrm>
          <a:prstGeom prst="roundRect">
            <a:avLst>
              <a:gd name="adj" fmla="val 9000"/>
            </a:avLst>
          </a:prstGeom>
          <a:solidFill>
            <a:srgbClr val="16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0" y="2194560"/>
            <a:ext cx="109728" cy="1078992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2359152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2DD4BF"/>
                </a:solidFill>
                <a:latin typeface="Consolas"/>
              </a:rPr>
              <a:t>services/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74320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FB0C3"/>
                </a:solidFill>
                <a:latin typeface="Segoe UI"/>
              </a:rPr>
              <a:t>query_pipeline.py — orchestrates the end-to-end flow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383280"/>
            <a:ext cx="5257800" cy="1078992"/>
          </a:xfrm>
          <a:prstGeom prst="roundRect">
            <a:avLst>
              <a:gd name="adj" fmla="val 9000"/>
            </a:avLst>
          </a:prstGeom>
          <a:solidFill>
            <a:srgbClr val="16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3383280"/>
            <a:ext cx="109728" cy="1078992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3547872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A78BFA"/>
                </a:solidFill>
                <a:latin typeface="Consolas"/>
              </a:rPr>
              <a:t>core/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93192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FB0C3"/>
                </a:solidFill>
                <a:latin typeface="Segoe UI"/>
              </a:rPr>
              <a:t>embedder · vector_store · sql_generator · query_executor · file_handler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3383280"/>
            <a:ext cx="5257800" cy="1078992"/>
          </a:xfrm>
          <a:prstGeom prst="roundRect">
            <a:avLst>
              <a:gd name="adj" fmla="val 9000"/>
            </a:avLst>
          </a:prstGeom>
          <a:solidFill>
            <a:srgbClr val="16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09360" y="3383280"/>
            <a:ext cx="109728" cy="107899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29400" y="3547872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38BDF8"/>
                </a:solidFill>
                <a:latin typeface="Consolas"/>
              </a:rPr>
              <a:t>config/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393192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FB0C3"/>
                </a:solidFill>
                <a:latin typeface="Segoe UI"/>
              </a:rPr>
              <a:t>azure_client.py &amp; llm.py — Azure OpenAI + LangChain setup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4572000"/>
            <a:ext cx="5257800" cy="1078992"/>
          </a:xfrm>
          <a:prstGeom prst="roundRect">
            <a:avLst>
              <a:gd name="adj" fmla="val 9000"/>
            </a:avLst>
          </a:prstGeom>
          <a:solidFill>
            <a:srgbClr val="16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77240" y="4572000"/>
            <a:ext cx="109728" cy="1078992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4736592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BBF24"/>
                </a:solidFill>
                <a:latin typeface="Consolas"/>
              </a:rPr>
              <a:t>db/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512064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FB0C3"/>
                </a:solidFill>
                <a:latin typeface="Segoe UI"/>
              </a:rPr>
              <a:t>db.py engine factory · db_models.py Pydantic request/response models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09360" y="4572000"/>
            <a:ext cx="5257800" cy="1078992"/>
          </a:xfrm>
          <a:prstGeom prst="roundRect">
            <a:avLst>
              <a:gd name="adj" fmla="val 9000"/>
            </a:avLst>
          </a:prstGeom>
          <a:solidFill>
            <a:srgbClr val="16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09360" y="4572000"/>
            <a:ext cx="109728" cy="1078992"/>
          </a:xfrm>
          <a:prstGeom prst="rect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29400" y="4736592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472B6"/>
                </a:solidFill>
                <a:latin typeface="Consolas"/>
              </a:rPr>
              <a:t>utils/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512064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FB0C3"/>
                </a:solidFill>
                <a:latin typeface="Segoe UI"/>
              </a:rPr>
              <a:t>join_graph_builder · metadata_builder · prompt_builder · state · logger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02920"/>
            <a:ext cx="100584" cy="868680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DD4BF"/>
                </a:solidFill>
                <a:latin typeface="Segoe UI"/>
              </a:rPr>
              <a:t>CODE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1F5F9"/>
                </a:solidFill>
                <a:latin typeface="Segoe UI"/>
              </a:rPr>
              <a:t>Frontend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9FB0C3"/>
                </a:solidFill>
                <a:latin typeface="Segoe U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9FB0C3"/>
                </a:solidFill>
                <a:latin typeface="Segoe UI"/>
              </a:rPr>
              <a:t>Text-to-SQL</a:t>
            </a:r>
            <a:r>
              <a:rPr sz="1000" b="0">
                <a:solidFill>
                  <a:srgbClr val="9FB0C3"/>
                </a:solidFill>
                <a:latin typeface="Segoe UI"/>
              </a:rPr>
              <a:t>  •  AI-Powered Query Engine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9FB0C3"/>
                </a:solidFill>
                <a:latin typeface="Segoe UI"/>
              </a:rPr>
              <a:t>A React 18 single-page app with feature-grouped components and three main views.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148840"/>
            <a:ext cx="3456432" cy="155448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2148840"/>
            <a:ext cx="3456432" cy="457200"/>
          </a:xfrm>
          <a:prstGeom prst="roundRect">
            <a:avLst>
              <a:gd name="adj" fmla="val 1800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148840"/>
            <a:ext cx="345643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0B1220"/>
                </a:solidFill>
                <a:latin typeface="Segoe UI"/>
              </a:rPr>
              <a:t>Query 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743200"/>
            <a:ext cx="305409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9FB0C3"/>
                </a:solidFill>
                <a:latin typeface="Segoe UI"/>
              </a:rPr>
              <a:t>Ask questions, see SQL, results, summary, complexity &amp; token usage.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16552" y="2148840"/>
            <a:ext cx="3456432" cy="155448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16552" y="2148840"/>
            <a:ext cx="3456432" cy="457200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16552" y="2148840"/>
            <a:ext cx="345643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0B1220"/>
                </a:solidFill>
                <a:latin typeface="Segoe UI"/>
              </a:rPr>
              <a:t>Schema 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2743200"/>
            <a:ext cx="305409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9FB0C3"/>
                </a:solidFill>
                <a:latin typeface="Segoe UI"/>
              </a:rPr>
              <a:t>Browse databases, tables and columns; uploaded files shown inline.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55864" y="2148840"/>
            <a:ext cx="3456432" cy="155448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55864" y="2148840"/>
            <a:ext cx="3456432" cy="457200"/>
          </a:xfrm>
          <a:prstGeom prst="roundRect">
            <a:avLst>
              <a:gd name="adj" fmla="val 18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55864" y="2148840"/>
            <a:ext cx="345643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0B1220"/>
                </a:solidFill>
                <a:latin typeface="Segoe UI"/>
              </a:rPr>
              <a:t>Data 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2" y="2743200"/>
            <a:ext cx="305409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9FB0C3"/>
                </a:solidFill>
                <a:latin typeface="Segoe UI"/>
              </a:rPr>
              <a:t>Inspect raw table data with a full-screen table modal.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977639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DD4BF"/>
                </a:solidFill>
                <a:latin typeface="Segoe UI"/>
              </a:rPr>
              <a:t>Component groups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4526280"/>
            <a:ext cx="3456432" cy="530352"/>
          </a:xfrm>
          <a:prstGeom prst="roundRect">
            <a:avLst>
              <a:gd name="adj" fmla="val 18000"/>
            </a:avLst>
          </a:prstGeom>
          <a:solidFill>
            <a:srgbClr val="1E2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41832" y="4718304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88720" y="4526280"/>
            <a:ext cx="290779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F1F5F9"/>
                </a:solidFill>
                <a:latin typeface="Segoe UI"/>
              </a:rPr>
              <a:t>layout/ — Sidebar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16552" y="4526280"/>
            <a:ext cx="3456432" cy="530352"/>
          </a:xfrm>
          <a:prstGeom prst="roundRect">
            <a:avLst>
              <a:gd name="adj" fmla="val 18000"/>
            </a:avLst>
          </a:prstGeom>
          <a:solidFill>
            <a:srgbClr val="1E2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581144" y="4718304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28032" y="4526280"/>
            <a:ext cx="290779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F1F5F9"/>
                </a:solidFill>
                <a:latin typeface="Segoe UI"/>
              </a:rPr>
              <a:t>query/ — Results, Modal, ChatMessage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55864" y="4526280"/>
            <a:ext cx="3456432" cy="530352"/>
          </a:xfrm>
          <a:prstGeom prst="roundRect">
            <a:avLst>
              <a:gd name="adj" fmla="val 18000"/>
            </a:avLst>
          </a:prstGeom>
          <a:solidFill>
            <a:srgbClr val="1E2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220456" y="4718304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67344" y="4526280"/>
            <a:ext cx="290779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F1F5F9"/>
                </a:solidFill>
                <a:latin typeface="Segoe UI"/>
              </a:rPr>
              <a:t>schema/ — DatabaseSchemaView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5184648"/>
            <a:ext cx="3456432" cy="530352"/>
          </a:xfrm>
          <a:prstGeom prst="roundRect">
            <a:avLst>
              <a:gd name="adj" fmla="val 18000"/>
            </a:avLst>
          </a:prstGeom>
          <a:solidFill>
            <a:srgbClr val="1E2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41832" y="5376672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88720" y="5184648"/>
            <a:ext cx="290779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F1F5F9"/>
                </a:solidFill>
                <a:latin typeface="Segoe UI"/>
              </a:rPr>
              <a:t>data/ — ViewDataTable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416552" y="5184648"/>
            <a:ext cx="3456432" cy="530352"/>
          </a:xfrm>
          <a:prstGeom prst="roundRect">
            <a:avLst>
              <a:gd name="adj" fmla="val 18000"/>
            </a:avLst>
          </a:prstGeom>
          <a:solidFill>
            <a:srgbClr val="1E2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581144" y="5376672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828032" y="5184648"/>
            <a:ext cx="290779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F1F5F9"/>
                </a:solidFill>
                <a:latin typeface="Segoe UI"/>
              </a:rPr>
              <a:t>upload/ — FileUploadModal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55864" y="5184648"/>
            <a:ext cx="3456432" cy="530352"/>
          </a:xfrm>
          <a:prstGeom prst="roundRect">
            <a:avLst>
              <a:gd name="adj" fmla="val 18000"/>
            </a:avLst>
          </a:prstGeom>
          <a:solidFill>
            <a:srgbClr val="1E2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220456" y="5376672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67344" y="5184648"/>
            <a:ext cx="290779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F1F5F9"/>
                </a:solidFill>
                <a:latin typeface="Segoe UI"/>
              </a:rPr>
              <a:t>common/ — FullScreenTableModal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02920"/>
            <a:ext cx="100584" cy="868680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DD4BF"/>
                </a:solidFill>
                <a:latin typeface="Segoe UI"/>
              </a:rPr>
              <a:t>INTERFACE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1F5F9"/>
                </a:solidFill>
                <a:latin typeface="Segoe UI"/>
              </a:rPr>
              <a:t>REST API Endpoints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9FB0C3"/>
                </a:solidFill>
                <a:latin typeface="Segoe U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9FB0C3"/>
                </a:solidFill>
                <a:latin typeface="Segoe UI"/>
              </a:rPr>
              <a:t>Text-to-SQL</a:t>
            </a:r>
            <a:r>
              <a:rPr sz="1000" b="0">
                <a:solidFill>
                  <a:srgbClr val="9FB0C3"/>
                </a:solidFill>
                <a:latin typeface="Segoe UI"/>
              </a:rPr>
              <a:t>  •  AI-Powered Query Engine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645920"/>
            <a:ext cx="10607040" cy="512064"/>
          </a:xfrm>
          <a:prstGeom prst="roundRect">
            <a:avLst>
              <a:gd name="adj" fmla="val 15000"/>
            </a:avLst>
          </a:prstGeom>
          <a:solidFill>
            <a:srgbClr val="16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1737360"/>
            <a:ext cx="868680" cy="329184"/>
          </a:xfrm>
          <a:prstGeom prst="roundRect">
            <a:avLst>
              <a:gd name="adj" fmla="val 25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737360"/>
            <a:ext cx="8686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B1220"/>
                </a:solidFill>
                <a:latin typeface="Segoe UI"/>
              </a:rPr>
              <a:t>POST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5960" y="1645920"/>
            <a:ext cx="3840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1F5F9"/>
                </a:solidFill>
                <a:latin typeface="Consolas"/>
              </a:rPr>
              <a:t>/query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645920"/>
            <a:ext cx="53035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FB0C3"/>
                </a:solidFill>
                <a:latin typeface="Segoe UI"/>
              </a:rPr>
              <a:t>Natural-language query → SQL, results &amp; summary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189988"/>
            <a:ext cx="10607040" cy="512064"/>
          </a:xfrm>
          <a:prstGeom prst="roundRect">
            <a:avLst>
              <a:gd name="adj" fmla="val 15000"/>
            </a:avLst>
          </a:prstGeom>
          <a:solidFill>
            <a:srgbClr val="16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14400" y="2281428"/>
            <a:ext cx="868680" cy="329184"/>
          </a:xfrm>
          <a:prstGeom prst="roundRect">
            <a:avLst>
              <a:gd name="adj" fmla="val 2500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281428"/>
            <a:ext cx="8686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B1220"/>
                </a:solidFill>
                <a:latin typeface="Segoe UI"/>
              </a:rPr>
              <a:t>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5960" y="2189988"/>
            <a:ext cx="3840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1F5F9"/>
                </a:solidFill>
                <a:latin typeface="Consolas"/>
              </a:rPr>
              <a:t>/query/search-tables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2189988"/>
            <a:ext cx="53035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FB0C3"/>
                </a:solidFill>
                <a:latin typeface="Segoe UI"/>
              </a:rPr>
              <a:t>Semantic table search via embeddings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2734056"/>
            <a:ext cx="10607040" cy="512064"/>
          </a:xfrm>
          <a:prstGeom prst="roundRect">
            <a:avLst>
              <a:gd name="adj" fmla="val 15000"/>
            </a:avLst>
          </a:prstGeom>
          <a:solidFill>
            <a:srgbClr val="16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14400" y="2825496"/>
            <a:ext cx="868680" cy="329184"/>
          </a:xfrm>
          <a:prstGeom prst="roundRect">
            <a:avLst>
              <a:gd name="adj" fmla="val 25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2825496"/>
            <a:ext cx="8686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B1220"/>
                </a:solidFill>
                <a:latin typeface="Segoe UI"/>
              </a:rPr>
              <a:t>GET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65960" y="2734056"/>
            <a:ext cx="3840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1F5F9"/>
                </a:solidFill>
                <a:latin typeface="Consolas"/>
              </a:rPr>
              <a:t>/databases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2734056"/>
            <a:ext cx="53035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FB0C3"/>
                </a:solidFill>
                <a:latin typeface="Segoe UI"/>
              </a:rPr>
              <a:t>List all accessible PostgreSQL databases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3278124"/>
            <a:ext cx="10607040" cy="512064"/>
          </a:xfrm>
          <a:prstGeom prst="roundRect">
            <a:avLst>
              <a:gd name="adj" fmla="val 15000"/>
            </a:avLst>
          </a:prstGeom>
          <a:solidFill>
            <a:srgbClr val="16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14400" y="3369564"/>
            <a:ext cx="868680" cy="329184"/>
          </a:xfrm>
          <a:prstGeom prst="roundRect">
            <a:avLst>
              <a:gd name="adj" fmla="val 25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3369564"/>
            <a:ext cx="8686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B1220"/>
                </a:solidFill>
                <a:latin typeface="Segoe UI"/>
              </a:rPr>
              <a:t>GET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65960" y="3278124"/>
            <a:ext cx="3840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1F5F9"/>
                </a:solidFill>
                <a:latin typeface="Consolas"/>
              </a:rPr>
              <a:t>/databases/{db}/tables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0" y="3278124"/>
            <a:ext cx="53035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FB0C3"/>
                </a:solidFill>
                <a:latin typeface="Segoe UI"/>
              </a:rPr>
              <a:t>List tables (with row counts) in a database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822192"/>
            <a:ext cx="10607040" cy="512064"/>
          </a:xfrm>
          <a:prstGeom prst="roundRect">
            <a:avLst>
              <a:gd name="adj" fmla="val 15000"/>
            </a:avLst>
          </a:prstGeom>
          <a:solidFill>
            <a:srgbClr val="16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14400" y="3913632"/>
            <a:ext cx="868680" cy="329184"/>
          </a:xfrm>
          <a:prstGeom prst="roundRect">
            <a:avLst>
              <a:gd name="adj" fmla="val 25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3913632"/>
            <a:ext cx="8686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B1220"/>
                </a:solidFill>
                <a:latin typeface="Segoe UI"/>
              </a:rPr>
              <a:t>GET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65960" y="3822192"/>
            <a:ext cx="3840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1F5F9"/>
                </a:solidFill>
                <a:latin typeface="Consolas"/>
              </a:rPr>
              <a:t>/databases/{db}/schema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0" y="3822192"/>
            <a:ext cx="53035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FB0C3"/>
                </a:solidFill>
                <a:latin typeface="Segoe UI"/>
              </a:rPr>
              <a:t>Full schema for every table in a database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366260"/>
            <a:ext cx="10607040" cy="512064"/>
          </a:xfrm>
          <a:prstGeom prst="roundRect">
            <a:avLst>
              <a:gd name="adj" fmla="val 15000"/>
            </a:avLst>
          </a:prstGeom>
          <a:solidFill>
            <a:srgbClr val="16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14400" y="4457700"/>
            <a:ext cx="868680" cy="329184"/>
          </a:xfrm>
          <a:prstGeom prst="roundRect">
            <a:avLst>
              <a:gd name="adj" fmla="val 25000"/>
            </a:avLst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" y="4457700"/>
            <a:ext cx="8686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B1220"/>
                </a:solidFill>
                <a:latin typeface="Segoe UI"/>
              </a:rPr>
              <a:t>POST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65960" y="4366260"/>
            <a:ext cx="3840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1F5F9"/>
                </a:solidFill>
                <a:latin typeface="Consolas"/>
              </a:rPr>
              <a:t>/upload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43600" y="4366260"/>
            <a:ext cx="53035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FB0C3"/>
                </a:solidFill>
                <a:latin typeface="Segoe UI"/>
              </a:rPr>
              <a:t>Upload a CSV / Excel file as a queryable table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40" y="4910328"/>
            <a:ext cx="10607040" cy="512064"/>
          </a:xfrm>
          <a:prstGeom prst="roundRect">
            <a:avLst>
              <a:gd name="adj" fmla="val 15000"/>
            </a:avLst>
          </a:prstGeom>
          <a:solidFill>
            <a:srgbClr val="16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914400" y="5001768"/>
            <a:ext cx="868680" cy="329184"/>
          </a:xfrm>
          <a:prstGeom prst="roundRect">
            <a:avLst>
              <a:gd name="adj" fmla="val 25000"/>
            </a:avLst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5001768"/>
            <a:ext cx="8686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B1220"/>
                </a:solidFill>
                <a:latin typeface="Segoe UI"/>
              </a:rPr>
              <a:t>GET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65960" y="4910328"/>
            <a:ext cx="3840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1F5F9"/>
                </a:solidFill>
                <a:latin typeface="Consolas"/>
              </a:rPr>
              <a:t>/upload/tables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0" y="4910328"/>
            <a:ext cx="53035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FB0C3"/>
                </a:solidFill>
                <a:latin typeface="Segoe UI"/>
              </a:rPr>
              <a:t>List uploaded tables for a database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77240" y="5454396"/>
            <a:ext cx="10607040" cy="512064"/>
          </a:xfrm>
          <a:prstGeom prst="roundRect">
            <a:avLst>
              <a:gd name="adj" fmla="val 15000"/>
            </a:avLst>
          </a:prstGeom>
          <a:solidFill>
            <a:srgbClr val="16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914400" y="5545836"/>
            <a:ext cx="868680" cy="329184"/>
          </a:xfrm>
          <a:prstGeom prst="roundRect">
            <a:avLst>
              <a:gd name="adj" fmla="val 25000"/>
            </a:avLst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5545836"/>
            <a:ext cx="8686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B1220"/>
                </a:solidFill>
                <a:latin typeface="Segoe UI"/>
              </a:rPr>
              <a:t>GET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65960" y="5454396"/>
            <a:ext cx="3840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1F5F9"/>
                </a:solidFill>
                <a:latin typeface="Consolas"/>
              </a:rPr>
              <a:t>/metadata  ·  /join-graphs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0" y="5454396"/>
            <a:ext cx="53035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FB0C3"/>
                </a:solidFill>
                <a:latin typeface="Segoe UI"/>
              </a:rPr>
              <a:t>Cached metadata &amp; foreign-key join graphs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02920"/>
            <a:ext cx="100584" cy="868680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DD4BF"/>
                </a:solidFill>
                <a:latin typeface="Segoe UI"/>
              </a:rPr>
              <a:t>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1F5F9"/>
                </a:solidFill>
                <a:latin typeface="Segoe UI"/>
              </a:rPr>
              <a:t>Security &amp; Safety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9FB0C3"/>
                </a:solidFill>
                <a:latin typeface="Segoe U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9FB0C3"/>
                </a:solidFill>
                <a:latin typeface="Segoe UI"/>
              </a:rPr>
              <a:t>Text-to-SQL</a:t>
            </a:r>
            <a:r>
              <a:rPr sz="1000" b="0">
                <a:solidFill>
                  <a:srgbClr val="9FB0C3"/>
                </a:solidFill>
                <a:latin typeface="Segoe UI"/>
              </a:rPr>
              <a:t>  •  AI-Powered Query Engine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5257800" cy="123444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5840" y="2103120"/>
            <a:ext cx="457200" cy="457200"/>
          </a:xfrm>
          <a:prstGeom prst="ellipse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1031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0B1220"/>
                </a:solidFill>
                <a:latin typeface="Segoe U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011680"/>
            <a:ext cx="4251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1F5F9"/>
                </a:solidFill>
                <a:latin typeface="Segoe UI"/>
              </a:rPr>
              <a:t>Destructive-op blocking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2395728"/>
            <a:ext cx="4206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FB0C3"/>
                </a:solidFill>
                <a:latin typeface="Segoe UI"/>
              </a:rPr>
              <a:t>DELETE / DROP / UPDATE / INSERT are detected and never executed.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828800"/>
            <a:ext cx="5257800" cy="123444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37960" y="2103120"/>
            <a:ext cx="457200" cy="45720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21031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0B1220"/>
                </a:solidFill>
                <a:latin typeface="Segoe U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8040" y="2011680"/>
            <a:ext cx="4251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1F5F9"/>
                </a:solidFill>
                <a:latin typeface="Segoe UI"/>
              </a:rPr>
              <a:t>Read-only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8040" y="2395728"/>
            <a:ext cx="4206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FB0C3"/>
                </a:solidFill>
                <a:latin typeface="Segoe UI"/>
              </a:rPr>
              <a:t>Queries run with an enforced row LIMIT for safe previews.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200400"/>
            <a:ext cx="5257800" cy="123444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5840" y="3474720"/>
            <a:ext cx="457200" cy="457200"/>
          </a:xfrm>
          <a:prstGeom prst="ellipse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34747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0B1220"/>
                </a:solidFill>
                <a:latin typeface="Segoe UI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3383280"/>
            <a:ext cx="4251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1F5F9"/>
                </a:solidFill>
                <a:latin typeface="Segoe UI"/>
              </a:rPr>
              <a:t>Query validation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3767328"/>
            <a:ext cx="4206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FB0C3"/>
                </a:solidFill>
                <a:latin typeface="Segoe UI"/>
              </a:rPr>
              <a:t>Basic syntax validation before hitting the database.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9360" y="3200400"/>
            <a:ext cx="5257800" cy="123444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537960" y="3474720"/>
            <a:ext cx="457200" cy="457200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34747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0B1220"/>
                </a:solidFill>
                <a:latin typeface="Segoe UI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78040" y="3383280"/>
            <a:ext cx="4251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1F5F9"/>
                </a:solidFill>
                <a:latin typeface="Segoe UI"/>
              </a:rPr>
              <a:t>Secrets in env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8040" y="3767328"/>
            <a:ext cx="4206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FB0C3"/>
                </a:solidFill>
                <a:latin typeface="Segoe UI"/>
              </a:rPr>
              <a:t>Azure keys &amp; DB credentials live in .env.local, never committed.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572000"/>
            <a:ext cx="5257800" cy="123444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05840" y="4846320"/>
            <a:ext cx="457200" cy="457200"/>
          </a:xfrm>
          <a:prstGeom prst="ellipse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48463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0B1220"/>
                </a:solidFill>
                <a:latin typeface="Segoe UI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45920" y="4754880"/>
            <a:ext cx="4251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1F5F9"/>
                </a:solidFill>
                <a:latin typeface="Segoe UI"/>
              </a:rPr>
              <a:t>Parameterized engine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45920" y="5138928"/>
            <a:ext cx="4206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FB0C3"/>
                </a:solidFill>
                <a:latin typeface="Segoe UI"/>
              </a:rPr>
              <a:t>SQLAlchemy engine per database with managed connections.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4572000"/>
            <a:ext cx="5257800" cy="123444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537960" y="4846320"/>
            <a:ext cx="457200" cy="457200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37960" y="48463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0B1220"/>
                </a:solidFill>
                <a:latin typeface="Segoe UI"/>
              </a:rPr>
              <a:t>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78040" y="4754880"/>
            <a:ext cx="4251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1F5F9"/>
                </a:solidFill>
                <a:latin typeface="Segoe UI"/>
              </a:rPr>
              <a:t>Session cleanup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78040" y="5138928"/>
            <a:ext cx="4206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FB0C3"/>
                </a:solidFill>
                <a:latin typeface="Segoe UI"/>
              </a:rPr>
              <a:t>Uploaded tables &amp; embeddings are cleaned up on shutdown/restart.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02920"/>
            <a:ext cx="100584" cy="868680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DD4BF"/>
                </a:solidFill>
                <a:latin typeface="Segoe UI"/>
              </a:rPr>
              <a:t>WHAT'S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1F5F9"/>
                </a:solidFill>
                <a:latin typeface="Segoe UI"/>
              </a:rPr>
              <a:t>Future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9FB0C3"/>
                </a:solidFill>
                <a:latin typeface="Segoe U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9FB0C3"/>
                </a:solidFill>
                <a:latin typeface="Segoe UI"/>
              </a:rPr>
              <a:t>Text-to-SQL</a:t>
            </a:r>
            <a:r>
              <a:rPr sz="1000" b="0">
                <a:solidFill>
                  <a:srgbClr val="9FB0C3"/>
                </a:solidFill>
                <a:latin typeface="Segoe UI"/>
              </a:rPr>
              <a:t>  •  AI-Powered Query Engine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74519"/>
            <a:ext cx="5257800" cy="11887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74519"/>
            <a:ext cx="109728" cy="118872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ight Arrow 8"/>
          <p:cNvSpPr/>
          <p:nvPr/>
        </p:nvSpPr>
        <p:spPr>
          <a:xfrm>
            <a:off x="1069848" y="2295143"/>
            <a:ext cx="384048" cy="310896"/>
          </a:xfrm>
          <a:prstGeom prst="rightArrow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45920" y="2057399"/>
            <a:ext cx="4251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1F5F9"/>
                </a:solidFill>
                <a:latin typeface="Segoe UI"/>
              </a:rPr>
              <a:t>Query history persistence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2441447"/>
            <a:ext cx="4206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FB0C3"/>
                </a:solidFill>
                <a:latin typeface="Segoe UI"/>
              </a:rPr>
              <a:t>Save and revisit past questions and results.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874519"/>
            <a:ext cx="5257800" cy="11887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0" y="1874519"/>
            <a:ext cx="109728" cy="1188720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ight Arrow 13"/>
          <p:cNvSpPr/>
          <p:nvPr/>
        </p:nvSpPr>
        <p:spPr>
          <a:xfrm>
            <a:off x="6601968" y="2295143"/>
            <a:ext cx="384048" cy="310896"/>
          </a:xfrm>
          <a:prstGeom prst="rightArrow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78040" y="2057399"/>
            <a:ext cx="4251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1F5F9"/>
                </a:solidFill>
                <a:latin typeface="Segoe UI"/>
              </a:rPr>
              <a:t>User authentication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8040" y="2441447"/>
            <a:ext cx="4206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FB0C3"/>
                </a:solidFill>
                <a:latin typeface="Segoe UI"/>
              </a:rPr>
              <a:t>Per-user access and database permissions.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227831"/>
            <a:ext cx="5257800" cy="11887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227831"/>
            <a:ext cx="109728" cy="118872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ight Arrow 18"/>
          <p:cNvSpPr/>
          <p:nvPr/>
        </p:nvSpPr>
        <p:spPr>
          <a:xfrm>
            <a:off x="1069848" y="3648455"/>
            <a:ext cx="384048" cy="310896"/>
          </a:xfrm>
          <a:prstGeom prst="rightArrow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45920" y="3410711"/>
            <a:ext cx="4251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1F5F9"/>
                </a:solidFill>
                <a:latin typeface="Segoe UI"/>
              </a:rPr>
              <a:t>Data export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3794759"/>
            <a:ext cx="4206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FB0C3"/>
                </a:solidFill>
                <a:latin typeface="Segoe UI"/>
              </a:rPr>
              <a:t>Download results as CSV / JSON.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9360" y="3227831"/>
            <a:ext cx="5257800" cy="11887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309360" y="3227831"/>
            <a:ext cx="109728" cy="118872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ight Arrow 23"/>
          <p:cNvSpPr/>
          <p:nvPr/>
        </p:nvSpPr>
        <p:spPr>
          <a:xfrm>
            <a:off x="6601968" y="3648455"/>
            <a:ext cx="384048" cy="310896"/>
          </a:xfrm>
          <a:prstGeom prst="rightArrow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78040" y="3410711"/>
            <a:ext cx="4251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1F5F9"/>
                </a:solidFill>
                <a:latin typeface="Segoe UI"/>
              </a:rPr>
              <a:t>Optimization hints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8040" y="3794759"/>
            <a:ext cx="4206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FB0C3"/>
                </a:solidFill>
                <a:latin typeface="Segoe UI"/>
              </a:rPr>
              <a:t>Suggest indexes and query improvements.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581143"/>
            <a:ext cx="5257800" cy="11887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581143"/>
            <a:ext cx="109728" cy="118872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ight Arrow 28"/>
          <p:cNvSpPr/>
          <p:nvPr/>
        </p:nvSpPr>
        <p:spPr>
          <a:xfrm>
            <a:off x="1069848" y="5001767"/>
            <a:ext cx="384048" cy="310896"/>
          </a:xfrm>
          <a:prstGeom prst="rightArrow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645920" y="4764023"/>
            <a:ext cx="4251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1F5F9"/>
                </a:solidFill>
                <a:latin typeface="Segoe UI"/>
              </a:rPr>
              <a:t>Charts &amp; visualizations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45920" y="5148071"/>
            <a:ext cx="4206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FB0C3"/>
                </a:solidFill>
                <a:latin typeface="Segoe UI"/>
              </a:rPr>
              <a:t>Auto-render graphs from result sets.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4581143"/>
            <a:ext cx="5257800" cy="11887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309360" y="4581143"/>
            <a:ext cx="109728" cy="1188720"/>
          </a:xfrm>
          <a:prstGeom prst="rect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ight Arrow 33"/>
          <p:cNvSpPr/>
          <p:nvPr/>
        </p:nvSpPr>
        <p:spPr>
          <a:xfrm>
            <a:off x="6601968" y="5001767"/>
            <a:ext cx="384048" cy="310896"/>
          </a:xfrm>
          <a:prstGeom prst="rightArrow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78040" y="4764023"/>
            <a:ext cx="4251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1F5F9"/>
                </a:solidFill>
                <a:latin typeface="Segoe UI"/>
              </a:rPr>
              <a:t>Multi-turn conversations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78040" y="5148071"/>
            <a:ext cx="4206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FB0C3"/>
                </a:solidFill>
                <a:latin typeface="Segoe UI"/>
              </a:rPr>
              <a:t>Follow-up questions with shared context.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371600" y="3474720"/>
            <a:ext cx="4572000" cy="4572000"/>
          </a:xfrm>
          <a:prstGeom prst="ellipse">
            <a:avLst/>
          </a:prstGeom>
          <a:solidFill>
            <a:srgbClr val="16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-1463040"/>
            <a:ext cx="4206240" cy="4206240"/>
          </a:xfrm>
          <a:prstGeom prst="ellipse">
            <a:avLst/>
          </a:prstGeom>
          <a:solidFill>
            <a:srgbClr val="1E2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105156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6000" b="1">
                <a:solidFill>
                  <a:srgbClr val="F1F5F9"/>
                </a:solidFill>
                <a:latin typeface="Segoe UI"/>
              </a:rPr>
              <a:t>Thank </a:t>
            </a:r>
            <a:r>
              <a:rPr sz="6000" b="1">
                <a:solidFill>
                  <a:srgbClr val="2DD4BF"/>
                </a:solidFill>
                <a:latin typeface="Segoe UI"/>
              </a:rPr>
              <a:t>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566160"/>
            <a:ext cx="9875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9FB0C3"/>
                </a:solidFill>
                <a:latin typeface="Segoe UI"/>
              </a:rPr>
              <a:t>Text-to-SQL — making databases speak your language.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457200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1E2B44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8BDF8"/>
                </a:solidFill>
                <a:latin typeface="Segoe UI"/>
              </a:rPr>
              <a:t>React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47672" y="4572000"/>
            <a:ext cx="1111910" cy="329184"/>
          </a:xfrm>
          <a:prstGeom prst="roundRect">
            <a:avLst>
              <a:gd name="adj" fmla="val 50000"/>
            </a:avLst>
          </a:prstGeom>
          <a:solidFill>
            <a:srgbClr val="1E2B44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4D399"/>
                </a:solidFill>
                <a:latin typeface="Segoe UI"/>
              </a:rPr>
              <a:t>FastAPI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24174" y="4572000"/>
            <a:ext cx="1605686" cy="329184"/>
          </a:xfrm>
          <a:prstGeom prst="roundRect">
            <a:avLst>
              <a:gd name="adj" fmla="val 50000"/>
            </a:avLst>
          </a:prstGeom>
          <a:solidFill>
            <a:srgbClr val="1E2B44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A78BFA"/>
                </a:solidFill>
                <a:latin typeface="Segoe UI"/>
              </a:rPr>
              <a:t>Azure OpenAI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94452" y="457200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1E2B44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BBF24"/>
                </a:solidFill>
                <a:latin typeface="Segoe UI"/>
              </a:rPr>
              <a:t>FAISS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73444" y="4572000"/>
            <a:ext cx="1408176" cy="329184"/>
          </a:xfrm>
          <a:prstGeom prst="roundRect">
            <a:avLst>
              <a:gd name="adj" fmla="val 50000"/>
            </a:avLst>
          </a:prstGeom>
          <a:solidFill>
            <a:srgbClr val="1E2B44"/>
          </a:solidFill>
          <a:ln w="1270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2DD4BF"/>
                </a:solidFill>
                <a:latin typeface="Segoe UI"/>
              </a:rPr>
              <a:t>PostgreSQL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58521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9FB0C3"/>
                </a:solidFill>
                <a:latin typeface="Segoe UI"/>
              </a:rPr>
              <a:t>Questions &amp; Discussion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